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7" r:id="rId2"/>
    <p:sldId id="262" r:id="rId3"/>
    <p:sldId id="258" r:id="rId4"/>
    <p:sldId id="259" r:id="rId5"/>
    <p:sldId id="265" r:id="rId6"/>
    <p:sldId id="273" r:id="rId7"/>
    <p:sldId id="263" r:id="rId8"/>
    <p:sldId id="267" r:id="rId9"/>
    <p:sldId id="264" r:id="rId10"/>
    <p:sldId id="268" r:id="rId11"/>
    <p:sldId id="269" r:id="rId12"/>
    <p:sldId id="270" r:id="rId13"/>
    <p:sldId id="266" r:id="rId14"/>
    <p:sldId id="271" r:id="rId15"/>
    <p:sldId id="274" r:id="rId16"/>
    <p:sldId id="272" r:id="rId17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A5F"/>
    <a:srgbClr val="FF69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50" d="100"/>
          <a:sy n="50" d="100"/>
        </p:scale>
        <p:origin x="1906" y="6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C4B3AF-3E8C-432C-9B52-7AB4A6870B25}" type="datetimeFigureOut">
              <a:rPr lang="pt-BR" smtClean="0"/>
              <a:t>16/09/2026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09DDC0-606D-4293-8B47-B755035708B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2540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0AC045-90A9-D3C2-F956-020066E1A5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6DAB364-4756-1FCF-C4A8-66A4C7DE12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5E3B37E-02D0-F9E1-E288-362001E5A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7290D-67A6-46B3-B916-258C8A345956}" type="datetimeFigureOut">
              <a:rPr lang="pt-BR" smtClean="0"/>
              <a:t>16/09/2026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8767783-3E6D-B918-F808-41F0B5ADD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737C87F-B605-2D10-BD4A-7EF836371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97352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1E8CB2-F8F1-68C7-A0F1-9B6AA767E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604FCB-1557-DA41-69BE-0CC8D1A6C7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4EB9B8C-7EDD-32C0-697D-63BBEC473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7290D-67A6-46B3-B916-258C8A345956}" type="datetimeFigureOut">
              <a:rPr lang="pt-BR" smtClean="0"/>
              <a:t>16/09/2026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262FDEF-C757-396D-0E23-5C4481907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530A501-BB4C-24E5-4E7B-B2862718F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5948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11AB62-BC50-7017-E45C-F531A9657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88E1A6C-EE07-AC5C-8974-570DB33C3E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D09EF64-0FF9-CB96-910C-77F6D2A8D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7290D-67A6-46B3-B916-258C8A345956}" type="datetimeFigureOut">
              <a:rPr lang="pt-BR" smtClean="0"/>
              <a:t>16/09/2026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6C4AA2E-B698-3953-2BA6-688404CFE5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CDE72CE-4EFA-EC50-6809-5D7B8D308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886109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C717C3-19FC-A954-DC60-B7CB58927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32C09CA-959C-C599-3392-26E916FD07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8389512-483E-607B-EB61-3FEF65DAC1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A177529-9A6B-992F-21AC-1880EEEA7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7290D-67A6-46B3-B916-258C8A345956}" type="datetimeFigureOut">
              <a:rPr lang="pt-BR" smtClean="0"/>
              <a:t>16/09/2026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AE0B4CD-2DED-3179-793E-02C9F36C1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FD5C862-1744-6F7E-5441-719CAB890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59485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F75BAD-AA3C-C6B1-BC14-7D846CC2E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EC56D85-3AE0-3189-3E2E-DA354AC2BC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E62076A-6664-1D8B-723A-ADF53103D4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0BF51DAA-8FA6-0B8F-C88F-FDDD47A2E0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224F620C-01AD-C06B-D262-6AC795317D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39327E63-A54F-4537-BD95-7B91AAC6F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7290D-67A6-46B3-B916-258C8A345956}" type="datetimeFigureOut">
              <a:rPr lang="pt-BR" smtClean="0"/>
              <a:t>16/09/2026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E9C371CA-79EA-3430-F606-8B5CE496C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30354A73-76D8-D900-5018-9C2320D82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7176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01BFC4-2E89-E490-F4D2-E43739611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5388AA5E-36DA-2BCE-8CE8-D2FB3D0E9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7290D-67A6-46B3-B916-258C8A345956}" type="datetimeFigureOut">
              <a:rPr lang="pt-BR" smtClean="0"/>
              <a:t>16/09/2026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5A4A32AA-AB31-7B56-B133-22524F330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B4826572-DCAD-EDF3-1EA1-E0D1C8A21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94993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149758BF-DBBF-A171-7F4A-61D14668D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7290D-67A6-46B3-B916-258C8A345956}" type="datetimeFigureOut">
              <a:rPr lang="pt-BR" smtClean="0"/>
              <a:t>16/09/2026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55680ADB-60D8-72EA-A779-D0EB19E1F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9C0B0F2-998E-C496-930A-663ABC133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3009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5796C1-DC06-C49C-C53E-D137695BA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E675901-EB46-1AFF-E7E0-963DBF8D6D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4EA9102-3DBF-59EC-97A6-DEBC9841F1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959A77C-43EC-4DA5-55CE-280D2DCA6E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7290D-67A6-46B3-B916-258C8A345956}" type="datetimeFigureOut">
              <a:rPr lang="pt-BR" smtClean="0"/>
              <a:t>16/09/2026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8A53051-4A38-A164-4F50-76C39302D7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B88FA6C-C3F7-EDBD-BDA6-E257BBD2D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21512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98E420-AEBE-D865-A54E-769FC1CB0F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6014E9C2-3452-3BBB-6960-39CF9217ACB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F7F4436-F405-248F-EF61-23420DE804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08AF987-7A5C-1BE4-3461-702ACF6BC0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7290D-67A6-46B3-B916-258C8A345956}" type="datetimeFigureOut">
              <a:rPr lang="pt-BR" smtClean="0"/>
              <a:t>16/09/2026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6388280-85CB-AE73-B08B-3C2E9A1B0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2E8A22-B3C5-2F84-9383-50A01581B6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67175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D857E2-3915-D232-6B32-D78547742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CCC4D75-8A90-1F40-1E07-6C1A98127A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FB259DA-937F-F1C1-59A0-37EEE5C55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7290D-67A6-46B3-B916-258C8A345956}" type="datetimeFigureOut">
              <a:rPr lang="pt-BR" smtClean="0"/>
              <a:t>16/09/2026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BD770CC-E738-593C-16AF-43E00267A0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349252-F0A6-53F4-2EF9-8C29FCDF6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84015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9E91B7CD-9233-2313-300F-08ADC761F8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19A6AF5D-ABF4-4D1D-6E68-64431EFB7B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073F368-5508-7A18-4302-15AC0CD07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7290D-67A6-46B3-B916-258C8A345956}" type="datetimeFigureOut">
              <a:rPr lang="pt-BR" smtClean="0"/>
              <a:t>16/09/2026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495D962-8C74-5647-8795-9CB80331E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D8DCBCD-D44F-8667-743D-3EDAE577B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47959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FF7413DF-F1F0-CE5C-3899-63354BAF8E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A1B031C-CA4B-A037-E7D1-F6D7C69EA8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E96E7D5-C8C7-6F74-63EF-B94098E910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17290D-67A6-46B3-B916-258C8A345956}" type="datetimeFigureOut">
              <a:rPr lang="pt-BR" smtClean="0"/>
              <a:t>16/09/2026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122170F-DD9D-630B-6361-A2AEC40640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C3E96CC-30CF-EAA5-F3C6-ABEC03E0F8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1936A7-AB75-492B-B1DC-D15A3CC11A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5722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emf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emf"/><Relationship Id="rId4" Type="http://schemas.openxmlformats.org/officeDocument/2006/relationships/image" Target="../media/image11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emf"/><Relationship Id="rId4" Type="http://schemas.openxmlformats.org/officeDocument/2006/relationships/image" Target="../media/image17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236546-257A-736D-CCEE-622888557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Espaço Reservado para Imagem 9">
            <a:extLst>
              <a:ext uri="{FF2B5EF4-FFF2-40B4-BE49-F238E27FC236}">
                <a16:creationId xmlns:a16="http://schemas.microsoft.com/office/drawing/2014/main" id="{30372F1B-44FA-85AE-F785-9B628D0C74D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5015"/>
                    </a14:imgEffect>
                    <a14:imgEffect>
                      <a14:saturation sat="151000"/>
                    </a14:imgEffect>
                    <a14:imgEffect>
                      <a14:brightnessContrast bright="-52000" contrast="-3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7813" b="7813"/>
          <a:stretch>
            <a:fillRect/>
          </a:stretch>
        </p:blipFill>
        <p:spPr>
          <a:xfrm>
            <a:off x="0" y="-1"/>
            <a:ext cx="12192000" cy="6858000"/>
          </a:xfrm>
          <a:prstGeom prst="rect">
            <a:avLst/>
          </a:prstGeom>
          <a:solidFill>
            <a:prstClr val="black">
              <a:lumMod val="75000"/>
              <a:lumOff val="25000"/>
            </a:prstClr>
          </a:solidFill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C1A4E49E-7485-D7D4-7119-F4D197D945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8911" y="403228"/>
            <a:ext cx="1606491" cy="534968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5A734319-0842-00B8-FBC2-CC6AE5254C91}"/>
              </a:ext>
            </a:extLst>
          </p:cNvPr>
          <p:cNvSpPr txBox="1"/>
          <p:nvPr/>
        </p:nvSpPr>
        <p:spPr>
          <a:xfrm>
            <a:off x="2933200" y="2828835"/>
            <a:ext cx="632559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ctr">
              <a:spcBef>
                <a:spcPts val="1306"/>
              </a:spcBef>
              <a:spcAft>
                <a:spcPts val="1742"/>
              </a:spcAft>
              <a:buNone/>
            </a:pPr>
            <a:r>
              <a:rPr lang="pt-BR" sz="3600" b="0" i="0" dirty="0" err="1">
                <a:solidFill>
                  <a:srgbClr val="FDFFFF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AirBnb</a:t>
            </a:r>
            <a:r>
              <a:rPr lang="pt-BR" sz="3600" b="0" i="0" dirty="0">
                <a:solidFill>
                  <a:srgbClr val="FDFFFF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: características do imóvel e valor da diária</a:t>
            </a:r>
            <a:endParaRPr lang="pt-BR" sz="4000" b="0" i="0" dirty="0">
              <a:solidFill>
                <a:srgbClr val="FDFFFF"/>
              </a:solidFill>
              <a:effectLst/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32F74DF0-E0F3-11A4-707C-2913C8F577E6}"/>
              </a:ext>
            </a:extLst>
          </p:cNvPr>
          <p:cNvCxnSpPr>
            <a:cxnSpLocks/>
          </p:cNvCxnSpPr>
          <p:nvPr/>
        </p:nvCxnSpPr>
        <p:spPr>
          <a:xfrm>
            <a:off x="4660241" y="4183216"/>
            <a:ext cx="2871517" cy="0"/>
          </a:xfrm>
          <a:prstGeom prst="line">
            <a:avLst/>
          </a:prstGeom>
          <a:ln>
            <a:solidFill>
              <a:srgbClr val="FF5A5F"/>
            </a:solidFill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07AFDC32-1765-AF2F-1397-E38C5BBCD01D}"/>
              </a:ext>
            </a:extLst>
          </p:cNvPr>
          <p:cNvSpPr txBox="1"/>
          <p:nvPr/>
        </p:nvSpPr>
        <p:spPr>
          <a:xfrm>
            <a:off x="594360" y="5102352"/>
            <a:ext cx="40233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pt-BR" sz="1600" b="1" dirty="0">
                <a:solidFill>
                  <a:srgbClr val="FDFFFF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Projeto 1 </a:t>
            </a:r>
            <a:r>
              <a:rPr lang="pt-BR" sz="1600" dirty="0">
                <a:solidFill>
                  <a:srgbClr val="FDFFFF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– Ciclo Básico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3540B584-B5BC-CBD3-B1EA-9FE0F53CCD9B}"/>
              </a:ext>
            </a:extLst>
          </p:cNvPr>
          <p:cNvSpPr txBox="1"/>
          <p:nvPr/>
        </p:nvSpPr>
        <p:spPr>
          <a:xfrm>
            <a:off x="594360" y="5532120"/>
            <a:ext cx="40233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dirty="0">
                <a:solidFill>
                  <a:srgbClr val="FD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Integrantes:</a:t>
            </a:r>
          </a:p>
          <a:p>
            <a:r>
              <a:rPr lang="pt-BR" sz="1600" dirty="0">
                <a:solidFill>
                  <a:srgbClr val="FD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Anna Albuquerque</a:t>
            </a:r>
          </a:p>
          <a:p>
            <a:r>
              <a:rPr lang="pt-BR" sz="1600" dirty="0">
                <a:solidFill>
                  <a:srgbClr val="FD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Mateus Cortez Camacho</a:t>
            </a:r>
          </a:p>
        </p:txBody>
      </p:sp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5107635A-2E8E-9379-5CFD-1F1099D4B9E0}"/>
              </a:ext>
            </a:extLst>
          </p:cNvPr>
          <p:cNvCxnSpPr>
            <a:cxnSpLocks/>
          </p:cNvCxnSpPr>
          <p:nvPr/>
        </p:nvCxnSpPr>
        <p:spPr>
          <a:xfrm flipV="1">
            <a:off x="436880" y="5285978"/>
            <a:ext cx="0" cy="1003062"/>
          </a:xfrm>
          <a:prstGeom prst="line">
            <a:avLst/>
          </a:prstGeom>
          <a:ln>
            <a:solidFill>
              <a:srgbClr val="FF5A5F"/>
            </a:solidFill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07554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01F6F5-7B81-80AE-75B6-6F0648945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84F9E2-A080-807E-E774-FFB029F9D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3907"/>
          </a:xfrm>
          <a:solidFill>
            <a:srgbClr val="FF696D"/>
          </a:solidFill>
          <a:ln>
            <a:solidFill>
              <a:srgbClr val="FF5A5F"/>
            </a:solidFill>
          </a:ln>
        </p:spPr>
        <p:txBody>
          <a:bodyPr>
            <a:normAutofit/>
          </a:bodyPr>
          <a:lstStyle/>
          <a:p>
            <a:r>
              <a:rPr lang="pt-BR" sz="28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Sumário</a:t>
            </a:r>
            <a:endParaRPr lang="pt-BR" sz="3600">
              <a:solidFill>
                <a:schemeClr val="bg1"/>
              </a:solidFill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B424067-6B12-A90E-73D6-2A288B7D32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9479" y="529594"/>
            <a:ext cx="1606491" cy="534968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1234440" y="1965960"/>
            <a:ext cx="475488" cy="475488"/>
          </a:xfrm>
          <a:prstGeom prst="ellipse">
            <a:avLst/>
          </a:prstGeom>
          <a:solidFill>
            <a:srgbClr val="FF68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65376"/>
            <a:ext cx="3794760" cy="868680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3A3A3A"/>
                </a:solidFill>
                <a:latin typeface="Segoe UI"/>
              </a:rPr>
              <a:t>Contexto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07070"/>
                </a:solidFill>
                <a:latin typeface="Segoe UI"/>
              </a:rPr>
              <a:t>Por que precificar é difícil</a:t>
            </a:r>
          </a:p>
        </p:txBody>
      </p:sp>
      <p:sp>
        <p:nvSpPr>
          <p:cNvPr id="10" name="Oval 9"/>
          <p:cNvSpPr/>
          <p:nvPr/>
        </p:nvSpPr>
        <p:spPr>
          <a:xfrm>
            <a:off x="6537960" y="1965960"/>
            <a:ext cx="475488" cy="475488"/>
          </a:xfrm>
          <a:prstGeom prst="ellipse">
            <a:avLst/>
          </a:prstGeom>
          <a:solidFill>
            <a:srgbClr val="FF68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8040" y="1865376"/>
            <a:ext cx="3794760" cy="868680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3A3A3A"/>
                </a:solidFill>
                <a:latin typeface="Segoe UI"/>
              </a:rPr>
              <a:t>Tema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07070"/>
                </a:solidFill>
                <a:latin typeface="Segoe UI"/>
              </a:rPr>
              <a:t>A pergunta-guia</a:t>
            </a:r>
          </a:p>
        </p:txBody>
      </p:sp>
      <p:sp>
        <p:nvSpPr>
          <p:cNvPr id="12" name="Oval 11"/>
          <p:cNvSpPr/>
          <p:nvPr/>
        </p:nvSpPr>
        <p:spPr>
          <a:xfrm>
            <a:off x="1234440" y="3246120"/>
            <a:ext cx="475488" cy="475488"/>
          </a:xfrm>
          <a:prstGeom prst="ellipse">
            <a:avLst/>
          </a:prstGeom>
          <a:solidFill>
            <a:srgbClr val="FF68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145536"/>
            <a:ext cx="3794760" cy="868680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3A3A3A"/>
                </a:solidFill>
                <a:latin typeface="Segoe UI"/>
              </a:rPr>
              <a:t>Banco de Dados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07070"/>
                </a:solidFill>
                <a:latin typeface="Segoe UI"/>
              </a:rPr>
              <a:t>Origem, variáveis e limpeza</a:t>
            </a:r>
          </a:p>
        </p:txBody>
      </p:sp>
      <p:sp>
        <p:nvSpPr>
          <p:cNvPr id="14" name="Oval 13"/>
          <p:cNvSpPr/>
          <p:nvPr/>
        </p:nvSpPr>
        <p:spPr>
          <a:xfrm>
            <a:off x="6537960" y="3246120"/>
            <a:ext cx="475488" cy="475488"/>
          </a:xfrm>
          <a:prstGeom prst="ellipse">
            <a:avLst/>
          </a:prstGeom>
          <a:solidFill>
            <a:srgbClr val="FF68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3145536"/>
            <a:ext cx="3794760" cy="868680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3A3A3A"/>
                </a:solidFill>
                <a:latin typeface="Segoe UI"/>
              </a:rPr>
              <a:t>Visão Geral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07070"/>
                </a:solidFill>
                <a:latin typeface="Segoe UI"/>
              </a:rPr>
              <a:t>Preço no mundo e por continente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4526280"/>
            <a:ext cx="475488" cy="475488"/>
          </a:xfrm>
          <a:prstGeom prst="ellipse">
            <a:avLst/>
          </a:prstGeom>
          <a:solidFill>
            <a:srgbClr val="FF68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4425696"/>
            <a:ext cx="3794760" cy="868680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3A3A3A"/>
                </a:solidFill>
                <a:latin typeface="Segoe UI"/>
              </a:rPr>
              <a:t>Visão Específica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07070"/>
                </a:solidFill>
                <a:latin typeface="Segoe UI"/>
              </a:rPr>
              <a:t>Características do imóvel</a:t>
            </a:r>
          </a:p>
        </p:txBody>
      </p:sp>
      <p:sp>
        <p:nvSpPr>
          <p:cNvPr id="18" name="Oval 17"/>
          <p:cNvSpPr/>
          <p:nvPr/>
        </p:nvSpPr>
        <p:spPr>
          <a:xfrm>
            <a:off x="6537960" y="4526280"/>
            <a:ext cx="475488" cy="475488"/>
          </a:xfrm>
          <a:prstGeom prst="ellipse">
            <a:avLst/>
          </a:prstGeom>
          <a:solidFill>
            <a:srgbClr val="FF68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4425696"/>
            <a:ext cx="3794760" cy="868680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3A3A3A"/>
                </a:solidFill>
                <a:latin typeface="Segoe UI"/>
              </a:rPr>
              <a:t>Resultados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07070"/>
                </a:solidFill>
                <a:latin typeface="Segoe UI"/>
              </a:rPr>
              <a:t>Correlações, conclusão e limitações</a:t>
            </a:r>
          </a:p>
        </p:txBody>
      </p:sp>
    </p:spTree>
    <p:extLst>
      <p:ext uri="{BB962C8B-B14F-4D97-AF65-F5344CB8AC3E}">
        <p14:creationId xmlns:p14="http://schemas.microsoft.com/office/powerpoint/2010/main" val="1036677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B9088B29-159A-C886-A14F-EABD0AD0B6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81" t="-434" r="19530" b="434"/>
          <a:stretch>
            <a:fillRect/>
          </a:stretch>
        </p:blipFill>
        <p:spPr>
          <a:xfrm>
            <a:off x="8275320" y="1783080"/>
            <a:ext cx="3017520" cy="2976359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6" name="Título 1">
            <a:extLst>
              <a:ext uri="{FF2B5EF4-FFF2-40B4-BE49-F238E27FC236}">
                <a16:creationId xmlns:a16="http://schemas.microsoft.com/office/drawing/2014/main" id="{5EB18C86-B331-11D6-8DF3-A987B056EE6C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863907"/>
          </a:xfrm>
          <a:prstGeom prst="rect">
            <a:avLst/>
          </a:prstGeom>
          <a:solidFill>
            <a:srgbClr val="FF696D"/>
          </a:solidFill>
          <a:ln>
            <a:solidFill>
              <a:srgbClr val="FF5A5F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4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Contexto</a:t>
            </a:r>
            <a:endParaRPr lang="pt-BR" sz="3200" dirty="0">
              <a:solidFill>
                <a:schemeClr val="bg1"/>
              </a:solidFill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23C5B61D-C958-78FC-E3A9-4325449127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9479" y="529594"/>
            <a:ext cx="1606491" cy="534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" y="1572768"/>
            <a:ext cx="7086600" cy="3383280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 i="0">
                <a:solidFill>
                  <a:srgbClr val="3A3A3A"/>
                </a:solidFill>
                <a:latin typeface="Segoe UI"/>
              </a:rPr>
              <a:t>O </a:t>
            </a:r>
            <a:r>
              <a:rPr sz="1600" b="1" i="0">
                <a:solidFill>
                  <a:srgbClr val="3A3A3A"/>
                </a:solidFill>
                <a:latin typeface="Segoe UI"/>
              </a:rPr>
              <a:t>Airbnb</a:t>
            </a:r>
            <a:r>
              <a:rPr sz="1600" b="0" i="0">
                <a:solidFill>
                  <a:srgbClr val="3A3A3A"/>
                </a:solidFill>
                <a:latin typeface="Segoe UI"/>
              </a:rPr>
              <a:t> é uma plataforma digital que conecta anfitriões — pessoas que alugam imóveis ou quartos — a viajantes em busca de hospedagem de curta duração.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 i="0">
                <a:solidFill>
                  <a:srgbClr val="3A3A3A"/>
                </a:solidFill>
                <a:latin typeface="Segoe UI"/>
              </a:rPr>
              <a:t>Nasceu em </a:t>
            </a:r>
            <a:r>
              <a:rPr sz="1600" b="1" i="0">
                <a:solidFill>
                  <a:srgbClr val="3A3A3A"/>
                </a:solidFill>
                <a:latin typeface="Segoe UI"/>
              </a:rPr>
              <a:t>2007, em São Francisco (EUA)</a:t>
            </a:r>
            <a:r>
              <a:rPr sz="1600" b="0" i="0">
                <a:solidFill>
                  <a:srgbClr val="3A3A3A"/>
                </a:solidFill>
                <a:latin typeface="Segoe UI"/>
              </a:rPr>
              <a:t>, quando Brian Chesky e Joe Gebbia alugaram colchões infláveis na própria sala para ajudar a pagar o aluguel.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3A3A3A"/>
                </a:solidFill>
                <a:latin typeface="Segoe UI"/>
              </a:rPr>
              <a:t>Hoje são mais de </a:t>
            </a:r>
            <a:r>
              <a:rPr sz="1600" b="1" i="0">
                <a:solidFill>
                  <a:srgbClr val="3A3A3A"/>
                </a:solidFill>
                <a:latin typeface="Segoe UI"/>
              </a:rPr>
              <a:t>220 países</a:t>
            </a:r>
            <a:r>
              <a:rPr sz="1600" b="0" i="0">
                <a:solidFill>
                  <a:srgbClr val="3A3A3A"/>
                </a:solidFill>
                <a:latin typeface="Segoe UI"/>
              </a:rPr>
              <a:t> e </a:t>
            </a:r>
            <a:r>
              <a:rPr sz="1600" b="1" i="0">
                <a:solidFill>
                  <a:srgbClr val="3A3A3A"/>
                </a:solidFill>
                <a:latin typeface="Segoe UI"/>
              </a:rPr>
              <a:t>9 milhões de anúncios ativos</a:t>
            </a:r>
            <a:r>
              <a:rPr sz="1600" b="0" i="0">
                <a:solidFill>
                  <a:srgbClr val="3A3A3A"/>
                </a:solidFill>
                <a:latin typeface="Segoe UI"/>
              </a:rPr>
              <a:t>. Em cada um deles, alguém precisou decidir sozinho quanto cobrar pela diária.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5230368"/>
            <a:ext cx="10497312" cy="1078992"/>
          </a:xfrm>
          <a:prstGeom prst="roundRect">
            <a:avLst>
              <a:gd name="adj" fmla="val 7000"/>
            </a:avLst>
          </a:prstGeom>
          <a:solidFill>
            <a:srgbClr val="FD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09728" rtlCol="0" anchor="t">
            <a:no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B03A41"/>
                </a:solidFill>
                <a:latin typeface="Segoe UI"/>
              </a:rPr>
              <a:t>Não existe tabela de preços no Airbnb.</a:t>
            </a:r>
          </a:p>
          <a:p>
            <a:pPr algn="l"/>
            <a:r>
              <a:rPr sz="1300">
                <a:solidFill>
                  <a:srgbClr val="3A3A3A"/>
                </a:solidFill>
                <a:latin typeface="Segoe UI"/>
              </a:rPr>
              <a:t>Cada anfitrião define o valor olhando para o próprio imóvel — e é aí que começa a nossa investigação: das características que ele pode descrever no anúncio, quais realmente aparecem no preço?</a:t>
            </a:r>
          </a:p>
        </p:txBody>
      </p:sp>
    </p:spTree>
    <p:extLst>
      <p:ext uri="{BB962C8B-B14F-4D97-AF65-F5344CB8AC3E}">
        <p14:creationId xmlns:p14="http://schemas.microsoft.com/office/powerpoint/2010/main" val="30451384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BF9A3-B3EC-184F-F63D-A7BE7A746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1952F2-F06A-CAEE-2529-66182E04E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3907"/>
          </a:xfrm>
          <a:solidFill>
            <a:srgbClr val="FF696D"/>
          </a:solidFill>
          <a:ln>
            <a:solidFill>
              <a:srgbClr val="FF5A5F"/>
            </a:solidFill>
          </a:ln>
        </p:spPr>
        <p:txBody>
          <a:bodyPr>
            <a:normAutofit/>
          </a:bodyPr>
          <a:lstStyle/>
          <a:p>
            <a:r>
              <a:rPr lang="pt-BR" sz="24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Tema</a:t>
            </a:r>
            <a:endParaRPr lang="pt-BR" sz="3200" dirty="0">
              <a:solidFill>
                <a:schemeClr val="bg1"/>
              </a:solidFill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6AB4AC02-E8FE-006E-3D1B-4CA94C49D3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9479" y="529594"/>
            <a:ext cx="1606491" cy="53496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41248" y="1536192"/>
            <a:ext cx="10497312" cy="1280160"/>
          </a:xfrm>
          <a:prstGeom prst="roundRect">
            <a:avLst>
              <a:gd name="adj" fmla="val 7000"/>
            </a:avLst>
          </a:prstGeom>
          <a:solidFill>
            <a:srgbClr val="FF68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09728" rtlCol="0" anchor="ctr">
            <a:noAutofit/>
          </a:bodyPr>
          <a:lstStyle/>
          <a:p>
            <a:pPr algn="l">
              <a:spcAft>
                <a:spcPts val="5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Quais características da acomodação (banheiros, quartos, camas ou capacidade de hóspedes) têm maior impacto no valor da diária?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017520"/>
            <a:ext cx="10497312" cy="365760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707070"/>
                </a:solidFill>
                <a:latin typeface="Segoe UI"/>
              </a:rPr>
              <a:t>Para responder, quebramos a pergunta em três frentes: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3520440"/>
            <a:ext cx="3310128" cy="1783080"/>
          </a:xfrm>
          <a:prstGeom prst="roundRect">
            <a:avLst>
              <a:gd name="adj" fmla="val 7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09728" rtlCol="0" anchor="t">
            <a:noAutofit/>
          </a:bodyPr>
          <a:lstStyle/>
          <a:p>
            <a:pPr algn="l">
              <a:spcAft>
                <a:spcPts val="500"/>
              </a:spcAft>
            </a:pPr>
            <a:r>
              <a:rPr sz="1450" b="1">
                <a:solidFill>
                  <a:srgbClr val="B03A41"/>
                </a:solidFill>
                <a:latin typeface="Segoe UI"/>
              </a:rPr>
              <a:t>1. Quais variáveis?</a:t>
            </a:r>
          </a:p>
          <a:p>
            <a:pPr algn="l"/>
            <a:r>
              <a:rPr sz="1200">
                <a:solidFill>
                  <a:srgbClr val="3A3A3A"/>
                </a:solidFill>
                <a:latin typeface="Segoe UI"/>
              </a:rPr>
              <a:t>A base traz banheiros, quartos, camas e capacidade de hóspedes. Não há coluna de tipo de quarto, então trabalhamos com o que existe.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3520440"/>
            <a:ext cx="3310128" cy="1783080"/>
          </a:xfrm>
          <a:prstGeom prst="roundRect">
            <a:avLst>
              <a:gd name="adj" fmla="val 7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09728" rtlCol="0" anchor="t">
            <a:noAutofit/>
          </a:bodyPr>
          <a:lstStyle/>
          <a:p>
            <a:pPr algn="l">
              <a:spcAft>
                <a:spcPts val="500"/>
              </a:spcAft>
            </a:pPr>
            <a:r>
              <a:rPr sz="1450" b="1">
                <a:solidFill>
                  <a:srgbClr val="B03A41"/>
                </a:solidFill>
                <a:latin typeface="Segoe UI"/>
              </a:rPr>
              <a:t>2. A relação é linear?</a:t>
            </a:r>
          </a:p>
          <a:p>
            <a:pPr algn="l"/>
            <a:r>
              <a:rPr sz="1200">
                <a:solidFill>
                  <a:srgbClr val="3A3A3A"/>
                </a:solidFill>
                <a:latin typeface="Segoe UI"/>
              </a:rPr>
              <a:t>O preço sobe de forma constante a cada banheiro a mais, ou o efeito satura a partir de certo ponto?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2" y="3520440"/>
            <a:ext cx="3310128" cy="1783080"/>
          </a:xfrm>
          <a:prstGeom prst="roundRect">
            <a:avLst>
              <a:gd name="adj" fmla="val 7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09728" rtlCol="0" anchor="t">
            <a:noAutofit/>
          </a:bodyPr>
          <a:lstStyle/>
          <a:p>
            <a:pPr algn="l">
              <a:spcAft>
                <a:spcPts val="500"/>
              </a:spcAft>
            </a:pPr>
            <a:r>
              <a:rPr sz="1450" b="1">
                <a:solidFill>
                  <a:srgbClr val="B03A41"/>
                </a:solidFill>
                <a:latin typeface="Segoe UI"/>
              </a:rPr>
              <a:t>3. A localização muda?</a:t>
            </a:r>
          </a:p>
          <a:p>
            <a:pPr algn="l"/>
            <a:r>
              <a:rPr sz="1200">
                <a:solidFill>
                  <a:srgbClr val="3A3A3A"/>
                </a:solidFill>
                <a:latin typeface="Segoe UI"/>
              </a:rPr>
              <a:t>A mesma característica pesa igual em todo lugar, ou o continente altera a força da relação?</a:t>
            </a:r>
          </a:p>
        </p:txBody>
      </p:sp>
    </p:spTree>
    <p:extLst>
      <p:ext uri="{BB962C8B-B14F-4D97-AF65-F5344CB8AC3E}">
        <p14:creationId xmlns:p14="http://schemas.microsoft.com/office/powerpoint/2010/main" val="5172291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845C6-44EA-67F7-8108-CCC1BC041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A0E368-4FAA-87D4-5B9E-9EF3FE24E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3907"/>
          </a:xfrm>
          <a:solidFill>
            <a:srgbClr val="FF696D"/>
          </a:solidFill>
          <a:ln>
            <a:solidFill>
              <a:srgbClr val="FF5A5F"/>
            </a:solidFill>
          </a:ln>
        </p:spPr>
        <p:txBody>
          <a:bodyPr>
            <a:normAutofit/>
          </a:bodyPr>
          <a:lstStyle/>
          <a:p>
            <a:r>
              <a:rPr lang="pt-BR" sz="24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Banco de Dados</a:t>
            </a:r>
            <a:endParaRPr lang="pt-BR" sz="3200" dirty="0">
              <a:solidFill>
                <a:schemeClr val="bg1"/>
              </a:solidFill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0660C564-51E2-73E0-D675-DB1C36DF0D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9479" y="529594"/>
            <a:ext cx="1606491" cy="534968"/>
          </a:xfrm>
          <a:prstGeom prst="rect">
            <a:avLst/>
          </a:prstGeom>
        </p:spPr>
      </p:pic>
      <p:pic>
        <p:nvPicPr>
          <p:cNvPr id="4" name="Imagem 3" descr="Kaggle - Wikipedia">
            <a:extLst>
              <a:ext uri="{FF2B5EF4-FFF2-40B4-BE49-F238E27FC236}">
                <a16:creationId xmlns:a16="http://schemas.microsoft.com/office/drawing/2014/main" id="{080E0366-1183-D8EE-0128-47A4906324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645920"/>
            <a:ext cx="2514600" cy="9722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" y="2907792"/>
            <a:ext cx="4251960" cy="2286000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03A41"/>
                </a:solidFill>
                <a:latin typeface="Segoe UI"/>
              </a:rPr>
              <a:t>Airbnb Dataset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250" b="0" i="0">
                <a:solidFill>
                  <a:srgbClr val="707070"/>
                </a:solidFill>
                <a:latin typeface="Segoe UI"/>
              </a:rPr>
              <a:t>Kaggle · ashishjangra27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3A3A"/>
                </a:solidFill>
                <a:latin typeface="Segoe UI"/>
              </a:rPr>
              <a:t>Anúncios reais coletados da plataforma, com detalhes do imóvel, do anfitrião, localização, preço, comodidades e avaliações dos hóspedes.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23560" y="1737360"/>
            <a:ext cx="2697480" cy="1508760"/>
          </a:xfrm>
          <a:prstGeom prst="roundRect">
            <a:avLst>
              <a:gd name="adj" fmla="val 9000"/>
            </a:avLst>
          </a:prstGeom>
          <a:solidFill>
            <a:srgbClr val="FD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B03A41"/>
                </a:solidFill>
                <a:latin typeface="Segoe UI"/>
              </a:rPr>
              <a:t>12.805</a:t>
            </a:r>
          </a:p>
          <a:p>
            <a:pPr algn="ctr"/>
            <a:r>
              <a:rPr sz="1150">
                <a:solidFill>
                  <a:srgbClr val="707070"/>
                </a:solidFill>
                <a:latin typeface="Segoe UI"/>
              </a:rPr>
              <a:t>anúncios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9640" y="1737360"/>
            <a:ext cx="2697480" cy="1508760"/>
          </a:xfrm>
          <a:prstGeom prst="roundRect">
            <a:avLst>
              <a:gd name="adj" fmla="val 9000"/>
            </a:avLst>
          </a:prstGeom>
          <a:solidFill>
            <a:srgbClr val="FD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B03A41"/>
                </a:solidFill>
                <a:latin typeface="Segoe UI"/>
              </a:rPr>
              <a:t>23</a:t>
            </a:r>
          </a:p>
          <a:p>
            <a:pPr algn="ctr"/>
            <a:r>
              <a:rPr sz="1150">
                <a:solidFill>
                  <a:srgbClr val="707070"/>
                </a:solidFill>
                <a:latin typeface="Segoe UI"/>
              </a:rPr>
              <a:t>colunas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23560" y="3474720"/>
            <a:ext cx="2697480" cy="1508760"/>
          </a:xfrm>
          <a:prstGeom prst="roundRect">
            <a:avLst>
              <a:gd name="adj" fmla="val 9000"/>
            </a:avLst>
          </a:prstGeom>
          <a:solidFill>
            <a:srgbClr val="FD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B03A41"/>
                </a:solidFill>
                <a:latin typeface="Segoe UI"/>
              </a:rPr>
              <a:t>148</a:t>
            </a:r>
          </a:p>
          <a:p>
            <a:pPr algn="ctr"/>
            <a:r>
              <a:rPr sz="1150">
                <a:solidFill>
                  <a:srgbClr val="707070"/>
                </a:solidFill>
                <a:latin typeface="Segoe UI"/>
              </a:rPr>
              <a:t>países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49640" y="3474720"/>
            <a:ext cx="2697480" cy="1508760"/>
          </a:xfrm>
          <a:prstGeom prst="roundRect">
            <a:avLst>
              <a:gd name="adj" fmla="val 9000"/>
            </a:avLst>
          </a:prstGeom>
          <a:solidFill>
            <a:srgbClr val="FD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B03A41"/>
                </a:solidFill>
                <a:latin typeface="Segoe UI"/>
              </a:rPr>
              <a:t>6</a:t>
            </a:r>
          </a:p>
          <a:p>
            <a:pPr algn="ctr"/>
            <a:r>
              <a:rPr sz="1150">
                <a:solidFill>
                  <a:srgbClr val="707070"/>
                </a:solidFill>
                <a:latin typeface="Segoe UI"/>
              </a:rPr>
              <a:t>continentes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5440680"/>
            <a:ext cx="10497312" cy="868680"/>
          </a:xfrm>
          <a:prstGeom prst="roundRect">
            <a:avLst>
              <a:gd name="adj" fmla="val 7000"/>
            </a:avLst>
          </a:prstGeom>
          <a:solidFill>
            <a:srgbClr val="FD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09728" rtlCol="0" anchor="t">
            <a:no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B03A41"/>
                </a:solidFill>
                <a:latin typeface="Segoe UI"/>
              </a:rPr>
              <a:t>Um detalhe decisivo: o preço vem na moeda local de cada país.</a:t>
            </a:r>
          </a:p>
          <a:p>
            <a:pPr algn="l"/>
            <a:r>
              <a:rPr sz="1250">
                <a:solidFill>
                  <a:srgbClr val="3A3A3A"/>
                </a:solidFill>
                <a:latin typeface="Segoe UI"/>
              </a:rPr>
              <a:t>Comparar um anúncio em rúpias com outro em euros seria comparar grandezas diferentes — por isso a conversão virou o primeiro passo da limpeza.</a:t>
            </a:r>
          </a:p>
        </p:txBody>
      </p:sp>
    </p:spTree>
    <p:extLst>
      <p:ext uri="{BB962C8B-B14F-4D97-AF65-F5344CB8AC3E}">
        <p14:creationId xmlns:p14="http://schemas.microsoft.com/office/powerpoint/2010/main" val="8750609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BF9A3-B3EC-184F-F63D-A7BE7A746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1952F2-F06A-CAEE-2529-66182E04E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3907"/>
          </a:xfrm>
          <a:solidFill>
            <a:srgbClr val="FF696D"/>
          </a:solidFill>
          <a:ln>
            <a:solidFill>
              <a:srgbClr val="FF5A5F"/>
            </a:solidFill>
          </a:ln>
        </p:spPr>
        <p:txBody>
          <a:bodyPr>
            <a:normAutofit/>
          </a:bodyPr>
          <a:lstStyle/>
          <a:p>
            <a:r>
              <a:rPr lang="pt-BR" sz="24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Banco de Dados – Variáveis e Limpeza</a:t>
            </a:r>
            <a:endParaRPr lang="pt-BR" sz="3200" dirty="0">
              <a:solidFill>
                <a:schemeClr val="bg1"/>
              </a:solidFill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6AB4AC02-E8FE-006E-3D1B-4CA94C49D3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9479" y="529594"/>
            <a:ext cx="1606491" cy="53496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41248" y="1536192"/>
            <a:ext cx="5029200" cy="3931920"/>
          </a:xfrm>
          <a:prstGeom prst="roundRect">
            <a:avLst>
              <a:gd name="adj" fmla="val 7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09728" rtlCol="0" anchor="t">
            <a:no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B03A41"/>
                </a:solidFill>
                <a:latin typeface="Segoe UI"/>
              </a:rPr>
              <a:t>Variáveis utilizadas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057400"/>
            <a:ext cx="4663440" cy="4160520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 i="0" dirty="0">
                <a:solidFill>
                  <a:srgbClr val="3A3A3A"/>
                </a:solidFill>
                <a:latin typeface="Segoe UI"/>
              </a:rPr>
              <a:t>price</a:t>
            </a:r>
            <a:r>
              <a:rPr sz="1250" b="0" i="0" dirty="0">
                <a:solidFill>
                  <a:srgbClr val="707070"/>
                </a:solidFill>
                <a:latin typeface="Segoe UI"/>
              </a:rPr>
              <a:t>  ·  </a:t>
            </a:r>
            <a:r>
              <a:rPr sz="1250" b="0" i="0" dirty="0" err="1">
                <a:solidFill>
                  <a:srgbClr val="707070"/>
                </a:solidFill>
                <a:latin typeface="Segoe UI"/>
              </a:rPr>
              <a:t>variável</a:t>
            </a:r>
            <a:r>
              <a:rPr sz="1250" b="0" i="0" dirty="0">
                <a:solidFill>
                  <a:srgbClr val="707070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707070"/>
                </a:solidFill>
                <a:latin typeface="Segoe UI"/>
              </a:rPr>
              <a:t>resposta</a:t>
            </a:r>
            <a:r>
              <a:rPr sz="1250" b="0" i="0" dirty="0">
                <a:solidFill>
                  <a:srgbClr val="707070"/>
                </a:solidFill>
                <a:latin typeface="Segoe UI"/>
              </a:rPr>
              <a:t>, </a:t>
            </a:r>
            <a:r>
              <a:rPr sz="1250" b="0" i="0" dirty="0" err="1">
                <a:solidFill>
                  <a:srgbClr val="707070"/>
                </a:solidFill>
                <a:latin typeface="Segoe UI"/>
              </a:rPr>
              <a:t>em</a:t>
            </a:r>
            <a:r>
              <a:rPr sz="1250" b="0" i="0" dirty="0">
                <a:solidFill>
                  <a:srgbClr val="707070"/>
                </a:solidFill>
                <a:latin typeface="Segoe UI"/>
              </a:rPr>
              <a:t> USD e </a:t>
            </a:r>
            <a:r>
              <a:rPr sz="1250" b="0" i="0" dirty="0" err="1">
                <a:solidFill>
                  <a:srgbClr val="707070"/>
                </a:solidFill>
                <a:latin typeface="Segoe UI"/>
              </a:rPr>
              <a:t>depois</a:t>
            </a:r>
            <a:r>
              <a:rPr sz="1250" b="0" i="0" dirty="0">
                <a:solidFill>
                  <a:srgbClr val="707070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707070"/>
                </a:solidFill>
                <a:latin typeface="Segoe UI"/>
              </a:rPr>
              <a:t>em</a:t>
            </a:r>
            <a:r>
              <a:rPr sz="1250" b="0" i="0" dirty="0">
                <a:solidFill>
                  <a:srgbClr val="707070"/>
                </a:solidFill>
                <a:latin typeface="Segoe UI"/>
              </a:rPr>
              <a:t> ln(USD)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 i="0" dirty="0">
                <a:solidFill>
                  <a:srgbClr val="3A3A3A"/>
                </a:solidFill>
                <a:latin typeface="Segoe UI"/>
              </a:rPr>
              <a:t>bathrooms, bedrooms, beds, guests</a:t>
            </a:r>
            <a:r>
              <a:rPr sz="1250" b="0" i="0" dirty="0">
                <a:solidFill>
                  <a:srgbClr val="707070"/>
                </a:solidFill>
                <a:latin typeface="Segoe UI"/>
              </a:rPr>
              <a:t>  ·  </a:t>
            </a:r>
            <a:r>
              <a:rPr sz="1250" b="0" i="0" dirty="0" err="1">
                <a:solidFill>
                  <a:srgbClr val="707070"/>
                </a:solidFill>
                <a:latin typeface="Segoe UI"/>
              </a:rPr>
              <a:t>quantitativas</a:t>
            </a:r>
            <a:r>
              <a:rPr sz="1250" b="0" i="0" dirty="0">
                <a:solidFill>
                  <a:srgbClr val="707070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707070"/>
                </a:solidFill>
                <a:latin typeface="Segoe UI"/>
              </a:rPr>
              <a:t>discretas</a:t>
            </a:r>
            <a:r>
              <a:rPr sz="1250" b="0" i="0" dirty="0">
                <a:solidFill>
                  <a:srgbClr val="707070"/>
                </a:solidFill>
                <a:latin typeface="Segoe UI"/>
              </a:rPr>
              <a:t>, o </a:t>
            </a:r>
            <a:r>
              <a:rPr sz="1250" b="0" i="0" dirty="0" err="1">
                <a:solidFill>
                  <a:srgbClr val="707070"/>
                </a:solidFill>
                <a:latin typeface="Segoe UI"/>
              </a:rPr>
              <a:t>centro</a:t>
            </a:r>
            <a:r>
              <a:rPr sz="1250" b="0" i="0" dirty="0">
                <a:solidFill>
                  <a:srgbClr val="707070"/>
                </a:solidFill>
                <a:latin typeface="Segoe UI"/>
              </a:rPr>
              <a:t> da </a:t>
            </a:r>
            <a:r>
              <a:rPr sz="1250" b="0" i="0" dirty="0" err="1">
                <a:solidFill>
                  <a:srgbClr val="707070"/>
                </a:solidFill>
                <a:latin typeface="Segoe UI"/>
              </a:rPr>
              <a:t>análise</a:t>
            </a:r>
            <a:endParaRPr sz="1250" b="0" i="0" dirty="0">
              <a:solidFill>
                <a:srgbClr val="707070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 i="0" dirty="0">
                <a:solidFill>
                  <a:srgbClr val="3A3A3A"/>
                </a:solidFill>
                <a:latin typeface="Segoe UI"/>
              </a:rPr>
              <a:t>studios</a:t>
            </a:r>
            <a:r>
              <a:rPr sz="1250" b="0" i="0" dirty="0">
                <a:solidFill>
                  <a:srgbClr val="707070"/>
                </a:solidFill>
                <a:latin typeface="Segoe UI"/>
              </a:rPr>
              <a:t>  ·  </a:t>
            </a:r>
            <a:r>
              <a:rPr sz="1250" b="0" i="0" dirty="0" err="1">
                <a:solidFill>
                  <a:srgbClr val="707070"/>
                </a:solidFill>
                <a:latin typeface="Segoe UI"/>
              </a:rPr>
              <a:t>qualitativa</a:t>
            </a:r>
            <a:r>
              <a:rPr sz="1250" b="0" i="0" dirty="0">
                <a:solidFill>
                  <a:srgbClr val="707070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707070"/>
                </a:solidFill>
                <a:latin typeface="Segoe UI"/>
              </a:rPr>
              <a:t>binária</a:t>
            </a:r>
            <a:r>
              <a:rPr sz="1250" b="0" i="0" dirty="0">
                <a:solidFill>
                  <a:srgbClr val="707070"/>
                </a:solidFill>
                <a:latin typeface="Segoe UI"/>
              </a:rPr>
              <a:t> (Sim/</a:t>
            </a:r>
            <a:r>
              <a:rPr sz="1250" b="0" i="0" dirty="0" err="1">
                <a:solidFill>
                  <a:srgbClr val="707070"/>
                </a:solidFill>
                <a:latin typeface="Segoe UI"/>
              </a:rPr>
              <a:t>Não</a:t>
            </a:r>
            <a:r>
              <a:rPr sz="1250" b="0" i="0" dirty="0">
                <a:solidFill>
                  <a:srgbClr val="707070"/>
                </a:solidFill>
                <a:latin typeface="Segoe UI"/>
              </a:rPr>
              <a:t>)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300" b="1" i="0" dirty="0">
                <a:solidFill>
                  <a:srgbClr val="3A3A3A"/>
                </a:solidFill>
                <a:latin typeface="Segoe UI"/>
              </a:rPr>
              <a:t>country → </a:t>
            </a:r>
            <a:r>
              <a:rPr sz="1300" b="1" i="0" dirty="0" err="1">
                <a:solidFill>
                  <a:srgbClr val="3A3A3A"/>
                </a:solidFill>
                <a:latin typeface="Segoe UI"/>
              </a:rPr>
              <a:t>continente</a:t>
            </a:r>
            <a:r>
              <a:rPr sz="1250" b="0" i="0" dirty="0">
                <a:solidFill>
                  <a:srgbClr val="707070"/>
                </a:solidFill>
                <a:latin typeface="Segoe UI"/>
              </a:rPr>
              <a:t>  ·  </a:t>
            </a:r>
            <a:r>
              <a:rPr sz="1250" b="0" i="0" dirty="0" err="1">
                <a:solidFill>
                  <a:srgbClr val="707070"/>
                </a:solidFill>
                <a:latin typeface="Segoe UI"/>
              </a:rPr>
              <a:t>qualitativa</a:t>
            </a:r>
            <a:r>
              <a:rPr sz="1250" b="0" i="0" dirty="0">
                <a:solidFill>
                  <a:srgbClr val="707070"/>
                </a:solidFill>
                <a:latin typeface="Segoe UI"/>
              </a:rPr>
              <a:t> nominal, para </a:t>
            </a:r>
            <a:r>
              <a:rPr sz="1250" b="0" i="0" dirty="0" err="1">
                <a:solidFill>
                  <a:srgbClr val="707070"/>
                </a:solidFill>
                <a:latin typeface="Segoe UI"/>
              </a:rPr>
              <a:t>testar</a:t>
            </a:r>
            <a:r>
              <a:rPr sz="1250" b="0" i="0" dirty="0">
                <a:solidFill>
                  <a:srgbClr val="707070"/>
                </a:solidFill>
                <a:latin typeface="Segoe UI"/>
              </a:rPr>
              <a:t> o </a:t>
            </a:r>
            <a:r>
              <a:rPr sz="1250" b="0" i="0" dirty="0" err="1">
                <a:solidFill>
                  <a:srgbClr val="707070"/>
                </a:solidFill>
                <a:latin typeface="Segoe UI"/>
              </a:rPr>
              <a:t>efeito</a:t>
            </a:r>
            <a:r>
              <a:rPr sz="1250" b="0" i="0" dirty="0">
                <a:solidFill>
                  <a:srgbClr val="707070"/>
                </a:solidFill>
                <a:latin typeface="Segoe UI"/>
              </a:rPr>
              <a:t> da </a:t>
            </a:r>
            <a:r>
              <a:rPr sz="1250" b="0" i="0" dirty="0" err="1">
                <a:solidFill>
                  <a:srgbClr val="707070"/>
                </a:solidFill>
                <a:latin typeface="Segoe UI"/>
              </a:rPr>
              <a:t>localização</a:t>
            </a:r>
            <a:endParaRPr sz="1250" b="0" i="0" dirty="0">
              <a:solidFill>
                <a:srgbClr val="707070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dirty="0" err="1">
                <a:solidFill>
                  <a:srgbClr val="707070"/>
                </a:solidFill>
                <a:latin typeface="Segoe UI"/>
              </a:rPr>
              <a:t>Descartadas</a:t>
            </a:r>
            <a:r>
              <a:rPr sz="1200" b="1" i="0" dirty="0">
                <a:solidFill>
                  <a:srgbClr val="707070"/>
                </a:solidFill>
                <a:latin typeface="Segoe UI"/>
              </a:rPr>
              <a:t>: </a:t>
            </a:r>
            <a:r>
              <a:rPr sz="1200" b="0" i="0" dirty="0">
                <a:solidFill>
                  <a:srgbClr val="707070"/>
                </a:solidFill>
                <a:latin typeface="Segoe UI"/>
              </a:rPr>
              <a:t>name, </a:t>
            </a:r>
            <a:r>
              <a:rPr sz="1200" b="0" i="0" dirty="0" err="1">
                <a:solidFill>
                  <a:srgbClr val="707070"/>
                </a:solidFill>
                <a:latin typeface="Segoe UI"/>
              </a:rPr>
              <a:t>host_name</a:t>
            </a:r>
            <a:r>
              <a:rPr sz="1200" b="0" i="0" dirty="0">
                <a:solidFill>
                  <a:srgbClr val="707070"/>
                </a:solidFill>
                <a:latin typeface="Segoe UI"/>
              </a:rPr>
              <a:t>, </a:t>
            </a:r>
            <a:r>
              <a:rPr sz="1200" b="0" i="0" dirty="0" err="1">
                <a:solidFill>
                  <a:srgbClr val="707070"/>
                </a:solidFill>
                <a:latin typeface="Segoe UI"/>
              </a:rPr>
              <a:t>img_links</a:t>
            </a:r>
            <a:r>
              <a:rPr sz="1200" b="0" i="0" dirty="0">
                <a:solidFill>
                  <a:srgbClr val="707070"/>
                </a:solidFill>
                <a:latin typeface="Segoe UI"/>
              </a:rPr>
              <a:t>, amenities, </a:t>
            </a:r>
            <a:r>
              <a:rPr sz="1200" b="0" i="0" dirty="0" err="1">
                <a:solidFill>
                  <a:srgbClr val="707070"/>
                </a:solidFill>
                <a:latin typeface="Segoe UI"/>
              </a:rPr>
              <a:t>safety_rules</a:t>
            </a:r>
            <a:r>
              <a:rPr sz="1200" b="0" i="0" dirty="0">
                <a:solidFill>
                  <a:srgbClr val="707070"/>
                </a:solidFill>
                <a:latin typeface="Segoe UI"/>
              </a:rPr>
              <a:t>, </a:t>
            </a:r>
            <a:r>
              <a:rPr sz="1200" b="0" i="0" dirty="0" err="1">
                <a:solidFill>
                  <a:srgbClr val="707070"/>
                </a:solidFill>
                <a:latin typeface="Segoe UI"/>
              </a:rPr>
              <a:t>hourse_rules</a:t>
            </a:r>
            <a:r>
              <a:rPr sz="1200" b="0" i="0" dirty="0">
                <a:solidFill>
                  <a:srgbClr val="707070"/>
                </a:solidFill>
                <a:latin typeface="Segoe UI"/>
              </a:rPr>
              <a:t>, toiles, </a:t>
            </a:r>
            <a:r>
              <a:rPr sz="1200" b="0" i="0" dirty="0" err="1">
                <a:solidFill>
                  <a:srgbClr val="707070"/>
                </a:solidFill>
                <a:latin typeface="Segoe UI"/>
              </a:rPr>
              <a:t>checkin</a:t>
            </a:r>
            <a:r>
              <a:rPr sz="1200" b="0" i="0" dirty="0">
                <a:solidFill>
                  <a:srgbClr val="707070"/>
                </a:solidFill>
                <a:latin typeface="Segoe UI"/>
              </a:rPr>
              <a:t> e checkout — </a:t>
            </a:r>
            <a:r>
              <a:rPr sz="1200" b="0" i="0" dirty="0" err="1">
                <a:solidFill>
                  <a:srgbClr val="707070"/>
                </a:solidFill>
                <a:latin typeface="Segoe UI"/>
              </a:rPr>
              <a:t>texto</a:t>
            </a:r>
            <a:r>
              <a:rPr sz="1200" b="0" i="0" dirty="0">
                <a:solidFill>
                  <a:srgbClr val="707070"/>
                </a:solidFill>
                <a:latin typeface="Segoe UI"/>
              </a:rPr>
              <a:t> livre, </a:t>
            </a:r>
            <a:r>
              <a:rPr sz="1200" b="0" i="0" dirty="0" err="1">
                <a:solidFill>
                  <a:srgbClr val="707070"/>
                </a:solidFill>
                <a:latin typeface="Segoe UI"/>
              </a:rPr>
              <a:t>identificadores</a:t>
            </a:r>
            <a:r>
              <a:rPr sz="1200" b="0" i="0" dirty="0">
                <a:solidFill>
                  <a:srgbClr val="707070"/>
                </a:solidFill>
                <a:latin typeface="Segoe UI"/>
              </a:rPr>
              <a:t> </a:t>
            </a:r>
            <a:r>
              <a:rPr sz="1200" b="0" i="0" dirty="0" err="1">
                <a:solidFill>
                  <a:srgbClr val="707070"/>
                </a:solidFill>
                <a:latin typeface="Segoe UI"/>
              </a:rPr>
              <a:t>ou</a:t>
            </a:r>
            <a:r>
              <a:rPr sz="1200" b="0" i="0" dirty="0">
                <a:solidFill>
                  <a:srgbClr val="707070"/>
                </a:solidFill>
                <a:latin typeface="Segoe UI"/>
              </a:rPr>
              <a:t> campos </a:t>
            </a:r>
            <a:r>
              <a:rPr sz="1200" b="0" i="0" dirty="0" err="1">
                <a:solidFill>
                  <a:srgbClr val="707070"/>
                </a:solidFill>
                <a:latin typeface="Segoe UI"/>
              </a:rPr>
              <a:t>sem</a:t>
            </a:r>
            <a:r>
              <a:rPr sz="1200" b="0" i="0" dirty="0">
                <a:solidFill>
                  <a:srgbClr val="707070"/>
                </a:solidFill>
                <a:latin typeface="Segoe UI"/>
              </a:rPr>
              <a:t> </a:t>
            </a:r>
            <a:r>
              <a:rPr sz="1200" b="0" i="0" dirty="0" err="1">
                <a:solidFill>
                  <a:srgbClr val="707070"/>
                </a:solidFill>
                <a:latin typeface="Segoe UI"/>
              </a:rPr>
              <a:t>relação</a:t>
            </a:r>
            <a:r>
              <a:rPr sz="1200" b="0" i="0" dirty="0">
                <a:solidFill>
                  <a:srgbClr val="707070"/>
                </a:solidFill>
                <a:latin typeface="Segoe UI"/>
              </a:rPr>
              <a:t> com o </a:t>
            </a:r>
            <a:r>
              <a:rPr sz="1200" b="0" i="0" dirty="0" err="1">
                <a:solidFill>
                  <a:srgbClr val="707070"/>
                </a:solidFill>
                <a:latin typeface="Segoe UI"/>
              </a:rPr>
              <a:t>preço</a:t>
            </a:r>
            <a:r>
              <a:rPr sz="1200" b="0" i="0" dirty="0">
                <a:solidFill>
                  <a:srgbClr val="707070"/>
                </a:solidFill>
                <a:latin typeface="Segoe U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536192"/>
            <a:ext cx="5029200" cy="3931920"/>
          </a:xfrm>
          <a:prstGeom prst="roundRect">
            <a:avLst>
              <a:gd name="adj" fmla="val 7000"/>
            </a:avLst>
          </a:prstGeom>
          <a:solidFill>
            <a:srgbClr val="FD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09728" rtlCol="0" anchor="t">
            <a:no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B03A41"/>
                </a:solidFill>
                <a:latin typeface="Segoe UI"/>
              </a:rPr>
              <a:t>Limpeza dos dados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057400"/>
            <a:ext cx="4663440" cy="4160520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B03A41"/>
                </a:solidFill>
                <a:latin typeface="Segoe UI"/>
              </a:rPr>
              <a:t>1. </a:t>
            </a:r>
            <a:r>
              <a:rPr sz="1250" b="1" i="0">
                <a:solidFill>
                  <a:srgbClr val="3A3A3A"/>
                </a:solidFill>
                <a:latin typeface="Segoe UI"/>
              </a:rPr>
              <a:t>rating e reviews vinham como texto — </a:t>
            </a:r>
            <a:r>
              <a:rPr sz="1250" b="0" i="0">
                <a:solidFill>
                  <a:srgbClr val="707070"/>
                </a:solidFill>
                <a:latin typeface="Segoe UI"/>
              </a:rPr>
              <a:t>convertidos para numérico; 4.238 anúncios marcados como “New” ficaram sem nota.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B03A41"/>
                </a:solidFill>
                <a:latin typeface="Segoe UI"/>
              </a:rPr>
              <a:t>2. </a:t>
            </a:r>
            <a:r>
              <a:rPr sz="1250" b="1" i="0">
                <a:solidFill>
                  <a:srgbClr val="3A3A3A"/>
                </a:solidFill>
                <a:latin typeface="Segoe UI"/>
              </a:rPr>
              <a:t>Preço em moeda local — </a:t>
            </a:r>
            <a:r>
              <a:rPr sz="1250" b="0" i="0">
                <a:solidFill>
                  <a:srgbClr val="707070"/>
                </a:solidFill>
                <a:latin typeface="Segoe UI"/>
              </a:rPr>
              <a:t>convertido para USD (taxa INR 83,16) e depois para escala logarítmica.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B03A41"/>
                </a:solidFill>
                <a:latin typeface="Segoe UI"/>
              </a:rPr>
              <a:t>3. </a:t>
            </a:r>
            <a:r>
              <a:rPr sz="1250" b="1" i="0">
                <a:solidFill>
                  <a:srgbClr val="3A3A3A"/>
                </a:solidFill>
                <a:latin typeface="Segoe UI"/>
              </a:rPr>
              <a:t>148 países — </a:t>
            </a:r>
            <a:r>
              <a:rPr sz="1250" b="0" i="0">
                <a:solidFill>
                  <a:srgbClr val="707070"/>
                </a:solidFill>
                <a:latin typeface="Segoe UI"/>
              </a:rPr>
              <a:t>agrupados em 6 continentes, para permitir comparação regional.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B03A41"/>
                </a:solidFill>
                <a:latin typeface="Segoe UI"/>
              </a:rPr>
              <a:t>4. </a:t>
            </a:r>
            <a:r>
              <a:rPr sz="1250" b="1" i="0">
                <a:solidFill>
                  <a:srgbClr val="3A3A3A"/>
                </a:solidFill>
                <a:latin typeface="Segoe UI"/>
              </a:rPr>
              <a:t>42 linhas removidas — </a:t>
            </a:r>
            <a:r>
              <a:rPr sz="1250" b="0" i="0">
                <a:solidFill>
                  <a:srgbClr val="707070"/>
                </a:solidFill>
                <a:latin typeface="Segoe UI"/>
              </a:rPr>
              <a:t>valores acima de 30 em banheiros, quartos, camas ou hóspedes — restaram 12.763 anúncios.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B03A41"/>
                </a:solidFill>
                <a:latin typeface="Segoe UI"/>
              </a:rPr>
              <a:t>5. </a:t>
            </a:r>
            <a:r>
              <a:rPr sz="1250" b="1" i="0">
                <a:solidFill>
                  <a:srgbClr val="3A3A3A"/>
                </a:solidFill>
                <a:latin typeface="Segoe UI"/>
              </a:rPr>
              <a:t>Sem duplicatas de id — </a:t>
            </a:r>
            <a:r>
              <a:rPr sz="1250" b="0" i="0">
                <a:solidFill>
                  <a:srgbClr val="707070"/>
                </a:solidFill>
                <a:latin typeface="Segoe UI"/>
              </a:rPr>
              <a:t>nulos concentrados em checkin (800) e checkout (2.450), colunas fora da análise.</a:t>
            </a:r>
          </a:p>
        </p:txBody>
      </p:sp>
    </p:spTree>
    <p:extLst>
      <p:ext uri="{BB962C8B-B14F-4D97-AF65-F5344CB8AC3E}">
        <p14:creationId xmlns:p14="http://schemas.microsoft.com/office/powerpoint/2010/main" val="5172291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A1B64-64A2-4700-5640-255FD9106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214C74-9843-8663-D593-C4A8765F0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3907"/>
          </a:xfrm>
          <a:solidFill>
            <a:srgbClr val="FF696D"/>
          </a:solidFill>
          <a:ln>
            <a:solidFill>
              <a:srgbClr val="FF5A5F"/>
            </a:solidFill>
          </a:ln>
        </p:spPr>
        <p:txBody>
          <a:bodyPr>
            <a:normAutofit/>
          </a:bodyPr>
          <a:lstStyle/>
          <a:p>
            <a:r>
              <a:rPr lang="pt-BR" sz="24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Visão Geral – Conversão para USD</a:t>
            </a:r>
            <a:endParaRPr lang="pt-BR" sz="3200" dirty="0">
              <a:solidFill>
                <a:schemeClr val="bg1"/>
              </a:solidFill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7EC79CF-AEEA-5A7D-7F54-1F3D212B1D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9479" y="529594"/>
            <a:ext cx="1606491" cy="534968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EE2E038F-D855-6FCA-DFAE-94F8CCE314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1737360"/>
            <a:ext cx="5669280" cy="3364694"/>
          </a:xfrm>
          <a:prstGeom prst="rect">
            <a:avLst/>
          </a:prstGeom>
        </p:spPr>
      </p:pic>
      <p:pic>
        <p:nvPicPr>
          <p:cNvPr id="20" name="Imagem 19">
            <a:extLst>
              <a:ext uri="{FF2B5EF4-FFF2-40B4-BE49-F238E27FC236}">
                <a16:creationId xmlns:a16="http://schemas.microsoft.com/office/drawing/2014/main" id="{C841D919-5D88-76E7-0073-7EAF8A9673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874519"/>
            <a:ext cx="4160520" cy="308186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41248" y="5102352"/>
            <a:ext cx="4160520" cy="1188720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B03A41"/>
                </a:solidFill>
                <a:latin typeface="Segoe UI"/>
              </a:rPr>
              <a:t>Conversão de price para ln(price)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070"/>
                </a:solidFill>
                <a:latin typeface="Segoe UI"/>
              </a:rPr>
              <a:t>A distribuição original é fortemente assimétrica à direita; o logaritmo a aproxima de uma forma simétrica e torna os gráficos legíveis.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0" y="5257800"/>
            <a:ext cx="5669280" cy="1005840"/>
          </a:xfrm>
          <a:prstGeom prst="roundRect">
            <a:avLst>
              <a:gd name="adj" fmla="val 7000"/>
            </a:avLst>
          </a:prstGeom>
          <a:solidFill>
            <a:srgbClr val="FD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09728" rtlCol="0" anchor="t">
            <a:noAutofit/>
          </a:bodyPr>
          <a:lstStyle/>
          <a:p>
            <a:pPr algn="l">
              <a:spcAft>
                <a:spcPts val="500"/>
              </a:spcAft>
            </a:pPr>
            <a:r>
              <a:rPr sz="1350" b="1">
                <a:solidFill>
                  <a:srgbClr val="B03A41"/>
                </a:solidFill>
                <a:latin typeface="Segoe UI"/>
              </a:rPr>
              <a:t>Mediana de US$ 98 contra média de US$ 213.</a:t>
            </a:r>
          </a:p>
          <a:p>
            <a:pPr algn="l"/>
            <a:r>
              <a:rPr sz="1200">
                <a:solidFill>
                  <a:srgbClr val="3A3A3A"/>
                </a:solidFill>
                <a:latin typeface="Segoe UI"/>
              </a:rPr>
              <a:t>Um punhado de anúncios muito caros puxa a média para cima — por isso trabalhamos com a mediana e com a escala log.</a:t>
            </a:r>
          </a:p>
        </p:txBody>
      </p:sp>
    </p:spTree>
    <p:extLst>
      <p:ext uri="{BB962C8B-B14F-4D97-AF65-F5344CB8AC3E}">
        <p14:creationId xmlns:p14="http://schemas.microsoft.com/office/powerpoint/2010/main" val="4534841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FD861-A970-A483-4521-A5976AB2B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07CE24-7064-BAFF-56BD-B3B940F07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3907"/>
          </a:xfrm>
          <a:solidFill>
            <a:srgbClr val="FF696D"/>
          </a:solidFill>
          <a:ln>
            <a:solidFill>
              <a:srgbClr val="FF5A5F"/>
            </a:solidFill>
          </a:ln>
        </p:spPr>
        <p:txBody>
          <a:bodyPr>
            <a:normAutofit/>
          </a:bodyPr>
          <a:lstStyle/>
          <a:p>
            <a:r>
              <a:rPr lang="pt-BR" sz="24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Visão Geral – Continentes</a:t>
            </a:r>
            <a:endParaRPr lang="pt-BR" sz="3200" dirty="0">
              <a:solidFill>
                <a:schemeClr val="bg1"/>
              </a:solidFill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4B5DCB0F-7DB4-363B-59F7-2F1BBE3D8D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9479" y="529594"/>
            <a:ext cx="1606491" cy="534968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F53CF084-859C-383E-BF8F-1E5DBCB380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3456432"/>
            <a:ext cx="5029200" cy="2984809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C22D0D45-FB4E-C2E4-CD28-A97037333E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1572768"/>
            <a:ext cx="5029200" cy="2984809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4038FD7B-CB1F-841A-C857-3EB30E931D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1572768"/>
            <a:ext cx="5257800" cy="165771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91072" y="4800600"/>
            <a:ext cx="5029200" cy="1554480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B03A41"/>
                </a:solidFill>
                <a:latin typeface="Segoe UI"/>
              </a:rPr>
              <a:t>O preço muda de patamar conforme a região.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3A3A3A"/>
                </a:solidFill>
                <a:latin typeface="Segoe UI"/>
              </a:rPr>
              <a:t>Oceania (US$ 224) e Europa (US$ 131) lideram as medianas; Ásia (US$ 69) e África (US$ 67) ficam na base.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707070"/>
                </a:solidFill>
                <a:latin typeface="Segoe UI"/>
              </a:rPr>
              <a:t>Mas Europa e Ásia concentram cerca de 90% dos anúncios, enquanto Oceania tem 41 e América do Sul 49 — as amostras não são equivalentes.</a:t>
            </a:r>
          </a:p>
        </p:txBody>
      </p:sp>
    </p:spTree>
    <p:extLst>
      <p:ext uri="{BB962C8B-B14F-4D97-AF65-F5344CB8AC3E}">
        <p14:creationId xmlns:p14="http://schemas.microsoft.com/office/powerpoint/2010/main" val="42208081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C584A-F566-64BA-3857-EC09592F5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24EF00-FF72-A27C-F028-07117EC78D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3907"/>
          </a:xfrm>
          <a:solidFill>
            <a:srgbClr val="FF696D"/>
          </a:solidFill>
          <a:ln>
            <a:solidFill>
              <a:srgbClr val="FF5A5F"/>
            </a:solidFill>
          </a:ln>
        </p:spPr>
        <p:txBody>
          <a:bodyPr>
            <a:normAutofit/>
          </a:bodyPr>
          <a:lstStyle/>
          <a:p>
            <a:r>
              <a:rPr lang="pt-BR" sz="24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Visão Específica – Quantitativas Relevantes</a:t>
            </a:r>
            <a:endParaRPr lang="pt-BR" sz="3200" dirty="0">
              <a:solidFill>
                <a:schemeClr val="bg1"/>
              </a:solidFill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E72697F0-76F2-E987-C080-76BFD4AF43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9479" y="529594"/>
            <a:ext cx="1606491" cy="534968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FCC48C20-3323-9031-C1B3-092440BEEC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1481328"/>
            <a:ext cx="9509760" cy="2907595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F61296C7-EB2D-C179-04C9-0F9A5CDD5E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617720"/>
            <a:ext cx="4572000" cy="1819307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AC7FDB52-923E-4896-F403-F3416805C6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4617720"/>
            <a:ext cx="4572000" cy="1819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70198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14CEE-421B-8058-355D-FABF8494F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BAC802-16B5-E3EE-856F-F0C2D98D4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3907"/>
          </a:xfrm>
          <a:solidFill>
            <a:srgbClr val="FF696D"/>
          </a:solidFill>
          <a:ln>
            <a:solidFill>
              <a:srgbClr val="FF5A5F"/>
            </a:solidFill>
          </a:ln>
        </p:spPr>
        <p:txBody>
          <a:bodyPr>
            <a:normAutofit/>
          </a:bodyPr>
          <a:lstStyle/>
          <a:p>
            <a:r>
              <a:rPr lang="pt-BR" sz="24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Visão Específica – Por Continente</a:t>
            </a:r>
            <a:endParaRPr lang="pt-BR" sz="3200" dirty="0">
              <a:solidFill>
                <a:schemeClr val="bg1"/>
              </a:solidFill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3645F1D-A568-FAAC-2595-115040AC0D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9479" y="529594"/>
            <a:ext cx="1606491" cy="534968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3989592E-9B45-8358-B740-253EBD52B9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572768"/>
            <a:ext cx="5029200" cy="3575673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051897EC-6AA8-0EB4-58C7-1A10A55F94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572768"/>
            <a:ext cx="5029200" cy="357567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41248" y="5413248"/>
            <a:ext cx="10497312" cy="914400"/>
          </a:xfrm>
          <a:prstGeom prst="roundRect">
            <a:avLst>
              <a:gd name="adj" fmla="val 7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09728" rtlCol="0" anchor="t">
            <a:no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B03A41"/>
                </a:solidFill>
                <a:latin typeface="Segoe UI"/>
              </a:rPr>
              <a:t>As acomodações em si são parecidas em todo lugar.</a:t>
            </a:r>
          </a:p>
          <a:p>
            <a:pPr algn="l"/>
            <a:r>
              <a:rPr sz="1250">
                <a:solidFill>
                  <a:srgbClr val="3A3A3A"/>
                </a:solidFill>
                <a:latin typeface="Segoe UI"/>
              </a:rPr>
              <a:t>A mediana é de 1 banheiro, 1 quarto, 2 camas e 4 hóspedes em praticamente todos os continentes. Se o imóvel típico é o mesmo e o preço não é, a diferença regional não vem do tamanho da acomodação.</a:t>
            </a:r>
          </a:p>
        </p:txBody>
      </p:sp>
    </p:spTree>
    <p:extLst>
      <p:ext uri="{BB962C8B-B14F-4D97-AF65-F5344CB8AC3E}">
        <p14:creationId xmlns:p14="http://schemas.microsoft.com/office/powerpoint/2010/main" val="19283582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78E22-DAF7-5832-C136-6D3C38F04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85E45C-0FA8-18FC-B9BE-43189E917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3907"/>
          </a:xfrm>
          <a:solidFill>
            <a:srgbClr val="FF696D"/>
          </a:solidFill>
          <a:ln>
            <a:solidFill>
              <a:srgbClr val="FF5A5F"/>
            </a:solidFill>
          </a:ln>
        </p:spPr>
        <p:txBody>
          <a:bodyPr>
            <a:normAutofit/>
          </a:bodyPr>
          <a:lstStyle/>
          <a:p>
            <a:r>
              <a:rPr lang="pt-BR" sz="24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Visão Específica – Dispersão</a:t>
            </a:r>
            <a:endParaRPr lang="pt-BR" sz="3200" dirty="0">
              <a:solidFill>
                <a:schemeClr val="bg1"/>
              </a:solidFill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FFCA6C2B-7C49-C4E4-21BB-1F401624A5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9479" y="529594"/>
            <a:ext cx="1606491" cy="534968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91920ADB-60E8-FE6A-FCD0-503A6E6A29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481328"/>
            <a:ext cx="6309360" cy="48302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1737360"/>
            <a:ext cx="3931920" cy="4480560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1" i="0">
                <a:solidFill>
                  <a:srgbClr val="B03A41"/>
                </a:solidFill>
                <a:latin typeface="Segoe UI"/>
              </a:rPr>
              <a:t>O efeito não é linear: ele satura.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350" b="1" i="0">
                <a:solidFill>
                  <a:srgbClr val="3A3A3A"/>
                </a:solidFill>
                <a:latin typeface="Segoe UI"/>
              </a:rPr>
              <a:t>Banheiros e quartos</a:t>
            </a:r>
            <a:r>
              <a:rPr sz="1350" b="0" i="0">
                <a:solidFill>
                  <a:srgbClr val="3A3A3A"/>
                </a:solidFill>
                <a:latin typeface="Segoe UI"/>
              </a:rPr>
              <a:t> sustentam a subida do preço em toda a faixa observada — a curva continua inclinada mesmo nos valores altos.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350" b="1" i="0">
                <a:solidFill>
                  <a:srgbClr val="3A3A3A"/>
                </a:solidFill>
                <a:latin typeface="Segoe UI"/>
              </a:rPr>
              <a:t>Camas</a:t>
            </a:r>
            <a:r>
              <a:rPr sz="1350" b="0" i="0">
                <a:solidFill>
                  <a:srgbClr val="3A3A3A"/>
                </a:solidFill>
                <a:latin typeface="Segoe UI"/>
              </a:rPr>
              <a:t> são o caso oposto: o preço cresce até cerca de 5 camas e depois estabiliza. Enfileirar camas num mesmo quarto não aumenta a diária.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350" b="1" i="0">
                <a:solidFill>
                  <a:srgbClr val="3A3A3A"/>
                </a:solidFill>
                <a:latin typeface="Segoe UI"/>
              </a:rPr>
              <a:t>Hóspedes</a:t>
            </a:r>
            <a:r>
              <a:rPr sz="1350" b="0" i="0">
                <a:solidFill>
                  <a:srgbClr val="3A3A3A"/>
                </a:solidFill>
                <a:latin typeface="Segoe UI"/>
              </a:rPr>
              <a:t> sobem de forma suave e constante, sem ponto claro de saturação.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707070"/>
                </a:solidFill>
                <a:latin typeface="Segoe UI"/>
              </a:rPr>
              <a:t>Ou seja: o que o mercado remunera é o espaço privativo, não a lotação.</a:t>
            </a:r>
          </a:p>
        </p:txBody>
      </p:sp>
    </p:spTree>
    <p:extLst>
      <p:ext uri="{BB962C8B-B14F-4D97-AF65-F5344CB8AC3E}">
        <p14:creationId xmlns:p14="http://schemas.microsoft.com/office/powerpoint/2010/main" val="4789320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FB11B-E155-E979-14A2-E35747775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235471-41F7-EF24-C8A0-7DC17D7EFF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3907"/>
          </a:xfrm>
          <a:solidFill>
            <a:srgbClr val="FF696D"/>
          </a:solidFill>
          <a:ln>
            <a:solidFill>
              <a:srgbClr val="FF5A5F"/>
            </a:solidFill>
          </a:ln>
        </p:spPr>
        <p:txBody>
          <a:bodyPr>
            <a:normAutofit/>
          </a:bodyPr>
          <a:lstStyle/>
          <a:p>
            <a:r>
              <a:rPr lang="pt-BR" sz="24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Visão Específica – Studios</a:t>
            </a:r>
            <a:endParaRPr lang="pt-BR" sz="3200" dirty="0">
              <a:solidFill>
                <a:schemeClr val="bg1"/>
              </a:solidFill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ED6E09FA-3A24-D613-0AC4-FB3685B83C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9479" y="529594"/>
            <a:ext cx="1606491" cy="534968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5B4E5F78-B579-39C1-F996-170FFBBC27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645920"/>
            <a:ext cx="5669280" cy="4011595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FC4EC67E-0ECD-0342-FA5B-024E28C10A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592" y="1600200"/>
            <a:ext cx="3794760" cy="22968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2C596F3E-BCE4-9867-F2BF-D71E3F7294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2592" y="4096512"/>
            <a:ext cx="3794760" cy="22968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1248" y="5760720"/>
            <a:ext cx="5669280" cy="822960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03A41"/>
                </a:solidFill>
                <a:latin typeface="Segoe UI"/>
              </a:rPr>
              <a:t>Studios são mais baratos, mas quase não existem na base: </a:t>
            </a:r>
            <a:r>
              <a:rPr sz="1250" b="0" i="0">
                <a:solidFill>
                  <a:srgbClr val="707070"/>
                </a:solidFill>
                <a:latin typeface="Segoe UI"/>
              </a:rPr>
              <a:t>302 de 12.805 anúncios (2,4%). A diferença é visível, porém apoiada numa amostra pequena.</a:t>
            </a:r>
          </a:p>
        </p:txBody>
      </p:sp>
    </p:spTree>
    <p:extLst>
      <p:ext uri="{BB962C8B-B14F-4D97-AF65-F5344CB8AC3E}">
        <p14:creationId xmlns:p14="http://schemas.microsoft.com/office/powerpoint/2010/main" val="27195829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8EED7-E3BB-D0B3-E510-E51DB7A4E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C54627-3EBE-F210-2174-C79AB414C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3907"/>
          </a:xfrm>
          <a:solidFill>
            <a:srgbClr val="FF696D"/>
          </a:solidFill>
          <a:ln>
            <a:solidFill>
              <a:srgbClr val="FF5A5F"/>
            </a:solidFill>
          </a:ln>
        </p:spPr>
        <p:txBody>
          <a:bodyPr>
            <a:normAutofit/>
          </a:bodyPr>
          <a:lstStyle/>
          <a:p>
            <a:r>
              <a:rPr lang="pt-BR" sz="28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Resultados – Correlações</a:t>
            </a:r>
            <a:endParaRPr lang="pt-BR" sz="3600" dirty="0">
              <a:solidFill>
                <a:schemeClr val="bg1"/>
              </a:solidFill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F976FE05-9F0A-F7A3-5B3A-6C3728080A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9479" y="529594"/>
            <a:ext cx="1606491" cy="534968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11B9B30D-73B6-C340-C899-A5C8B953B5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572768"/>
            <a:ext cx="4069080" cy="3410846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67D65F56-EE78-180B-1AA5-78D14C2BA5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0" y="1828800"/>
            <a:ext cx="5577840" cy="328028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41248" y="5468112"/>
            <a:ext cx="10497312" cy="868680"/>
          </a:xfrm>
          <a:prstGeom prst="roundRect">
            <a:avLst>
              <a:gd name="adj" fmla="val 7000"/>
            </a:avLst>
          </a:prstGeom>
          <a:solidFill>
            <a:srgbClr val="FD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09728" rtlCol="0" anchor="t">
            <a:no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B03A41"/>
                </a:solidFill>
                <a:latin typeface="Segoe UI"/>
              </a:rPr>
              <a:t>A localização muda a força da relação, não o sentido.</a:t>
            </a:r>
          </a:p>
          <a:p>
            <a:pPr algn="l"/>
            <a:r>
              <a:rPr sz="1250">
                <a:solidFill>
                  <a:srgbClr val="3A3A3A"/>
                </a:solidFill>
                <a:latin typeface="Segoe UI"/>
              </a:rPr>
              <a:t>América do Sul (0,73) e Europa (0,62) mostram correlações muito mais altas entre banheiros e preço do que Ásia (0,33) e África (0,33). Na África, camas praticamente não se relacionam com o preço (0,04).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056632"/>
            <a:ext cx="4069080" cy="320040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707070"/>
                </a:solidFill>
                <a:latin typeface="Segoe UI"/>
              </a:rPr>
              <a:t>Matriz na escala original de preço.</a:t>
            </a:r>
          </a:p>
        </p:txBody>
      </p:sp>
    </p:spTree>
    <p:extLst>
      <p:ext uri="{BB962C8B-B14F-4D97-AF65-F5344CB8AC3E}">
        <p14:creationId xmlns:p14="http://schemas.microsoft.com/office/powerpoint/2010/main" val="5465263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C8C33-D9E6-28CA-E197-5F9E63B92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16E3CD-F816-46D4-A234-7B0889367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3907"/>
          </a:xfrm>
          <a:solidFill>
            <a:srgbClr val="FF696D"/>
          </a:solidFill>
          <a:ln>
            <a:solidFill>
              <a:srgbClr val="FF5A5F"/>
            </a:solidFill>
          </a:ln>
        </p:spPr>
        <p:txBody>
          <a:bodyPr>
            <a:normAutofit/>
          </a:bodyPr>
          <a:lstStyle/>
          <a:p>
            <a:r>
              <a:rPr lang="pt-BR" sz="28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Resultados – Conclusão</a:t>
            </a:r>
            <a:endParaRPr lang="pt-BR" sz="3600" dirty="0">
              <a:solidFill>
                <a:schemeClr val="bg1"/>
              </a:solidFill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89B03CAE-4DE0-4889-691F-579C22D6CF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9479" y="529594"/>
            <a:ext cx="1606491" cy="534968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4C1F3BD3-8434-E3F4-8A44-C586549238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691640"/>
            <a:ext cx="5943600" cy="36692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32320" y="1691640"/>
            <a:ext cx="4206240" cy="4206240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1" i="0">
                <a:solidFill>
                  <a:srgbClr val="B03A41"/>
                </a:solidFill>
                <a:latin typeface="Segoe UI"/>
              </a:rPr>
              <a:t>Capacidade de hóspedes lidera, mas por pouco.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3A3A3A"/>
                </a:solidFill>
                <a:latin typeface="Segoe UI"/>
              </a:rPr>
              <a:t>guests (0,42), bedrooms (0,40) e bathrooms (0,38) ficam praticamente empatados; beds (0,32) é a mais fraca.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3A3A3A"/>
                </a:solidFill>
                <a:latin typeface="Segoe UI"/>
              </a:rPr>
              <a:t>Nenhuma delas passa de 0,42. Sozinhas, as características físicas do imóvel explicam pouco do preço da diária.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A3A3A"/>
                </a:solidFill>
                <a:latin typeface="Segoe UI"/>
              </a:rPr>
              <a:t>A resposta à pergunta-guia: </a:t>
            </a:r>
            <a:r>
              <a:rPr sz="1350" b="0" i="0">
                <a:solidFill>
                  <a:srgbClr val="3A3A3A"/>
                </a:solidFill>
                <a:latin typeface="Segoe UI"/>
              </a:rPr>
              <a:t>entre o que a base oferece, capacidade e número de quartos são os melhores indicadores — e o efeito de camas satura cedo. O peso maior, porém, parece estar em variáveis que não temos.</a:t>
            </a:r>
          </a:p>
        </p:txBody>
      </p:sp>
    </p:spTree>
    <p:extLst>
      <p:ext uri="{BB962C8B-B14F-4D97-AF65-F5344CB8AC3E}">
        <p14:creationId xmlns:p14="http://schemas.microsoft.com/office/powerpoint/2010/main" val="2340421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BF9A3-B3EC-184F-F63D-A7BE7A746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1952F2-F06A-CAEE-2529-66182E04E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3907"/>
          </a:xfrm>
          <a:solidFill>
            <a:srgbClr val="FF696D"/>
          </a:solidFill>
          <a:ln>
            <a:solidFill>
              <a:srgbClr val="FF5A5F"/>
            </a:solidFill>
          </a:ln>
        </p:spPr>
        <p:txBody>
          <a:bodyPr>
            <a:normAutofit/>
          </a:bodyPr>
          <a:lstStyle/>
          <a:p>
            <a:r>
              <a:rPr lang="pt-BR" sz="28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Limitações</a:t>
            </a:r>
            <a:endParaRPr lang="pt-BR" sz="3600" dirty="0">
              <a:solidFill>
                <a:schemeClr val="bg1"/>
              </a:solidFill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6AB4AC02-E8FE-006E-3D1B-4CA94C49D3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9479" y="529594"/>
            <a:ext cx="1606491" cy="53496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41248" y="1737360"/>
            <a:ext cx="5029200" cy="1828800"/>
          </a:xfrm>
          <a:prstGeom prst="roundRect">
            <a:avLst>
              <a:gd name="adj" fmla="val 7000"/>
            </a:avLst>
          </a:prstGeom>
          <a:solidFill>
            <a:srgbClr val="FD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09728" rtlCol="0" anchor="t">
            <a:no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B03A41"/>
                </a:solidFill>
                <a:latin typeface="Segoe UI"/>
              </a:rPr>
              <a:t>Correlação não é causalidade</a:t>
            </a:r>
          </a:p>
          <a:p>
            <a:pPr algn="l"/>
            <a:r>
              <a:rPr sz="1250">
                <a:solidFill>
                  <a:srgbClr val="3A3A3A"/>
                </a:solidFill>
                <a:latin typeface="Segoe UI"/>
              </a:rPr>
              <a:t>Anúncios caros tendem a ter mais banheiros, mas nada garante que acrescentar um banheiro aumente a diária. Padrão de acabamento, vista e reputação do anfitrião não estão na base.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37360"/>
            <a:ext cx="5029200" cy="1828800"/>
          </a:xfrm>
          <a:prstGeom prst="roundRect">
            <a:avLst>
              <a:gd name="adj" fmla="val 7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09728" rtlCol="0" anchor="t">
            <a:no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B03A41"/>
                </a:solidFill>
                <a:latin typeface="Segoe UI"/>
              </a:rPr>
              <a:t>Conversão de moeda simplificada</a:t>
            </a:r>
          </a:p>
          <a:p>
            <a:pPr algn="l"/>
            <a:r>
              <a:rPr sz="1250">
                <a:solidFill>
                  <a:srgbClr val="3A3A3A"/>
                </a:solidFill>
                <a:latin typeface="Segoe UI"/>
              </a:rPr>
              <a:t>Aplicamos uma única taxa de referência (INR 83,16) a uma base com 148 países. Toda comparação entre regiões carrega esse erro embutido.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3840479"/>
            <a:ext cx="5029200" cy="1828800"/>
          </a:xfrm>
          <a:prstGeom prst="roundRect">
            <a:avLst>
              <a:gd name="adj" fmla="val 7000"/>
            </a:avLst>
          </a:prstGeom>
          <a:solidFill>
            <a:srgbClr val="FD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09728" rtlCol="0" anchor="t">
            <a:no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B03A41"/>
                </a:solidFill>
                <a:latin typeface="Segoe UI"/>
              </a:rPr>
              <a:t>Variáveis que faltam</a:t>
            </a:r>
          </a:p>
          <a:p>
            <a:pPr algn="l"/>
            <a:r>
              <a:rPr sz="1250">
                <a:solidFill>
                  <a:srgbClr val="3A3A3A"/>
                </a:solidFill>
                <a:latin typeface="Segoe UI"/>
              </a:rPr>
              <a:t>A base não traz tipo de quarto (inteiro, privado ou compartilhado), sazonalidade nem a localização exata dentro da cidade — provavelmente os fatores de maior peso na precificação.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3840479"/>
            <a:ext cx="5029200" cy="1828800"/>
          </a:xfrm>
          <a:prstGeom prst="roundRect">
            <a:avLst>
              <a:gd name="adj" fmla="val 7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09728" rtlCol="0" anchor="t">
            <a:no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B03A41"/>
                </a:solidFill>
                <a:latin typeface="Segoe UI"/>
              </a:rPr>
              <a:t>Amostra desequilibrada</a:t>
            </a:r>
          </a:p>
          <a:p>
            <a:pPr algn="l"/>
            <a:r>
              <a:rPr sz="1250">
                <a:solidFill>
                  <a:srgbClr val="3A3A3A"/>
                </a:solidFill>
                <a:latin typeface="Segoe UI"/>
              </a:rPr>
              <a:t>Europa e Ásia somam cerca de 90% dos anúncios. Oceania tem 41 e América do Sul 49: as conclusões sobre essas regiões são frágeis.</a:t>
            </a:r>
          </a:p>
        </p:txBody>
      </p:sp>
    </p:spTree>
    <p:extLst>
      <p:ext uri="{BB962C8B-B14F-4D97-AF65-F5344CB8AC3E}">
        <p14:creationId xmlns:p14="http://schemas.microsoft.com/office/powerpoint/2010/main" val="5172291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6AD34-81EE-7211-D0AD-F25F6F3A2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61CB7C-12B7-662E-E6FB-BD2B638383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963281"/>
          </a:xfrm>
          <a:solidFill>
            <a:srgbClr val="FF696D"/>
          </a:solidFill>
          <a:ln>
            <a:solidFill>
              <a:srgbClr val="FF5A5F"/>
            </a:solidFill>
          </a:ln>
        </p:spPr>
        <p:txBody>
          <a:bodyPr>
            <a:normAutofit/>
          </a:bodyPr>
          <a:lstStyle/>
          <a:p>
            <a:r>
              <a:rPr lang="pt-BR" sz="36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Obrigado!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5DA0CB1A-BDED-7104-86C4-30779E2868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9479" y="529594"/>
            <a:ext cx="1606491" cy="5349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96112" y="3977639"/>
            <a:ext cx="6400800" cy="1188720"/>
          </a:xfrm>
          <a:prstGeom prst="rect">
            <a:avLst/>
          </a:prstGeom>
          <a:noFill/>
        </p:spPr>
        <p:txBody>
          <a:bodyPr wrap="square" lIns="54864" tIns="18288" rIns="54864" bIns="18288" anchor="t">
            <a:no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700" b="0" i="0" dirty="0">
                <a:solidFill>
                  <a:srgbClr val="FFFFFF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Anna Albuquerque  ·  Mateus Cortez Camacho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 dirty="0" err="1">
                <a:solidFill>
                  <a:srgbClr val="FFFFFF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Projeto</a:t>
            </a:r>
            <a:r>
              <a:rPr sz="1400" b="0" i="0" dirty="0">
                <a:solidFill>
                  <a:srgbClr val="FFFFFF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1 – Ciclo </a:t>
            </a:r>
            <a:r>
              <a:rPr sz="1400" b="0" i="0" dirty="0" err="1">
                <a:solidFill>
                  <a:srgbClr val="FFFFFF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Básico</a:t>
            </a:r>
            <a:r>
              <a:rPr sz="1400" b="0" i="0" dirty="0">
                <a:solidFill>
                  <a:srgbClr val="FFFFFF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 ·  </a:t>
            </a:r>
            <a:r>
              <a:rPr sz="1400" b="0" i="0" dirty="0" err="1">
                <a:solidFill>
                  <a:srgbClr val="FFFFFF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Insper</a:t>
            </a:r>
            <a:r>
              <a:rPr sz="1400" b="0" i="0" dirty="0">
                <a:solidFill>
                  <a:srgbClr val="FFFFFF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Data</a:t>
            </a:r>
            <a:endParaRPr lang="pt-BR" sz="1400" b="0" i="0" dirty="0">
              <a:solidFill>
                <a:srgbClr val="FFFFFF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endParaRPr lang="pt-BR" sz="1400" dirty="0">
              <a:solidFill>
                <a:srgbClr val="FFFFFF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pt-BR" sz="1400" dirty="0">
                <a:solidFill>
                  <a:srgbClr val="FFFFFF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GitHub: </a:t>
            </a:r>
            <a:endParaRPr sz="1400" b="0" i="0" dirty="0">
              <a:solidFill>
                <a:srgbClr val="FFFFFF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645149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1261</Words>
  <Application>Microsoft Office PowerPoint</Application>
  <PresentationFormat>Widescreen</PresentationFormat>
  <Paragraphs>110</Paragraphs>
  <Slides>16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Segoe UI</vt:lpstr>
      <vt:lpstr>Segoe UI Black</vt:lpstr>
      <vt:lpstr>Tema do Office</vt:lpstr>
      <vt:lpstr>Apresentação do PowerPoint</vt:lpstr>
      <vt:lpstr>Sumário</vt:lpstr>
      <vt:lpstr>Apresentação do PowerPoint</vt:lpstr>
      <vt:lpstr>Tema</vt:lpstr>
      <vt:lpstr>Banco de Dados</vt:lpstr>
      <vt:lpstr>Banco de Dados – Variáveis e Limpeza</vt:lpstr>
      <vt:lpstr>Visão Geral – Conversão para USD</vt:lpstr>
      <vt:lpstr>Visão Geral – Continentes</vt:lpstr>
      <vt:lpstr>Visão Específica – Quantitativas Relevantes</vt:lpstr>
      <vt:lpstr>Visão Específica – Por Continente</vt:lpstr>
      <vt:lpstr>Visão Específica – Dispersão</vt:lpstr>
      <vt:lpstr>Visão Específica – Studios</vt:lpstr>
      <vt:lpstr>Resultados – Correlações</vt:lpstr>
      <vt:lpstr>Resultados – Conclusão</vt:lpstr>
      <vt:lpstr>Limitações</vt:lpstr>
      <vt:lpstr>Obrigado!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Luiza Braga de Albuquerque</dc:creator>
  <cp:lastModifiedBy>Mateus Cortez Camacho</cp:lastModifiedBy>
  <cp:revision>2</cp:revision>
  <dcterms:created xsi:type="dcterms:W3CDTF">2026-09-15T18:50:15Z</dcterms:created>
  <dcterms:modified xsi:type="dcterms:W3CDTF">2026-09-16T21:01:51Z</dcterms:modified>
</cp:coreProperties>
</file>