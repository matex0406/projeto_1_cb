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2" r:id="rId3"/>
    <p:sldId id="258" r:id="rId4"/>
    <p:sldId id="259" r:id="rId5"/>
    <p:sldId id="265" r:id="rId6"/>
    <p:sldId id="263" r:id="rId7"/>
    <p:sldId id="267" r:id="rId8"/>
    <p:sldId id="264" r:id="rId9"/>
    <p:sldId id="268" r:id="rId10"/>
    <p:sldId id="269" r:id="rId11"/>
    <p:sldId id="270" r:id="rId12"/>
    <p:sldId id="266" r:id="rId13"/>
    <p:sldId id="271" r:id="rId14"/>
    <p:sldId id="27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A5F"/>
    <a:srgbClr val="FF69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4B3AF-3E8C-432C-9B52-7AB4A6870B25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9DDC0-606D-4293-8B47-B755035708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540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AC045-90A9-D3C2-F956-020066E1A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DAB364-4756-1FCF-C4A8-66A4C7DE1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E3B37E-02D0-F9E1-E288-362001E5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767783-3E6D-B918-F808-41F0B5AD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37C87F-B605-2D10-BD4A-7EF83637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3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E8CB2-F8F1-68C7-A0F1-9B6AA767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604FCB-1557-DA41-69BE-0CC8D1A6C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EB9B8C-7EDD-32C0-697D-63BBEC473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2FDEF-C757-396D-0E23-5C4481907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30A501-BB4C-24E5-4E7B-B2862718F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948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1AB62-BC50-7017-E45C-F531A96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8E1A6C-EE07-AC5C-8974-570DB33C3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09EF64-0FF9-CB96-910C-77F6D2A8D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C4AA2E-B698-3953-2BA6-688404CFE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DE72CE-4EFA-EC50-6809-5D7B8D30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861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717C3-19FC-A954-DC60-B7CB5892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2C09CA-959C-C599-3392-26E916FD0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389512-483E-607B-EB61-3FEF65DAC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77529-9A6B-992F-21AC-1880EEEA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E0B4CD-2DED-3179-793E-02C9F36C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D5C862-1744-6F7E-5441-719CAB89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94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75BAD-AA3C-C6B1-BC14-7D846CC2E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C56D85-3AE0-3189-3E2E-DA354AC2B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62076A-6664-1D8B-723A-ADF53103D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F51DAA-8FA6-0B8F-C88F-FDDD47A2E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24F620C-01AD-C06B-D262-6AC795317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327E63-A54F-4537-BD95-7B91AAC6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9C371CA-79EA-3430-F606-8B5CE496C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0354A73-76D8-D900-5018-9C2320D8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1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1BFC4-2E89-E490-F4D2-E43739611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88AA5E-36DA-2BCE-8CE8-D2FB3D0E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4A32AA-AB31-7B56-B133-22524F33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4826572-DCAD-EDF3-1EA1-E0D1C8A2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949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9758BF-DBBF-A171-7F4A-61D14668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680ADB-60D8-72EA-A779-D0EB19E1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C0B0F2-998E-C496-930A-663ABC13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0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796C1-DC06-C49C-C53E-D137695B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675901-EB46-1AFF-E7E0-963DBF8D6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EA9102-3DBF-59EC-97A6-DEBC9841F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59A77C-43EC-4DA5-55CE-280D2DCA6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A53051-4A38-A164-4F50-76C39302D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88FA6C-C3F7-EDBD-BDA6-E257BBD2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15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8E420-AEBE-D865-A54E-769FC1CB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14E9C2-3452-3BBB-6960-39CF9217A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7F4436-F405-248F-EF61-23420DE80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8AF987-7A5C-1BE4-3461-702ACF6B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388280-85CB-AE73-B08B-3C2E9A1B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2E8A22-B3C5-2F84-9383-50A01581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71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857E2-3915-D232-6B32-D78547742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CC4D75-8A90-1F40-1E07-6C1A98127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B259DA-937F-F1C1-59A0-37EEE5C5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D770CC-E738-593C-16AF-43E00267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349252-F0A6-53F4-2EF9-8C29FCDF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401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91B7CD-9233-2313-300F-08ADC761F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A6AF5D-ABF4-4D1D-6E68-64431EFB7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73F368-5508-7A18-4302-15AC0CD0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95D962-8C74-5647-8795-9CB80331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8DCBCD-D44F-8667-743D-3EDAE57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79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F7413DF-F1F0-CE5C-3899-63354BAF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1B031C-CA4B-A037-E7D1-F6D7C69EA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96E7D5-C8C7-6F74-63EF-B94098E91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7290D-67A6-46B3-B916-258C8A34595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22170F-DD9D-630B-6361-A2AEC4064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3E96CC-30CF-EAA5-F3C6-ABEC03E0F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2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36546-257A-736D-CCEE-62288855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Imagem 9">
            <a:extLst>
              <a:ext uri="{FF2B5EF4-FFF2-40B4-BE49-F238E27FC236}">
                <a16:creationId xmlns:a16="http://schemas.microsoft.com/office/drawing/2014/main" id="{30372F1B-44FA-85AE-F785-9B628D0C74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15"/>
                    </a14:imgEffect>
                    <a14:imgEffect>
                      <a14:saturation sat="151000"/>
                    </a14:imgEffect>
                    <a14:imgEffect>
                      <a14:brightnessContrast bright="-52000" contras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  <a:solidFill>
            <a:prstClr val="black">
              <a:lumMod val="75000"/>
              <a:lumOff val="25000"/>
            </a:prstClr>
          </a:solidFill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1A4E49E-7485-D7D4-7119-F4D197D945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11" y="403228"/>
            <a:ext cx="1606491" cy="53496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A734319-0842-00B8-FBC2-CC6AE5254C91}"/>
              </a:ext>
            </a:extLst>
          </p:cNvPr>
          <p:cNvSpPr txBox="1"/>
          <p:nvPr/>
        </p:nvSpPr>
        <p:spPr>
          <a:xfrm>
            <a:off x="2933200" y="2828835"/>
            <a:ext cx="63255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1306"/>
              </a:spcBef>
              <a:spcAft>
                <a:spcPts val="1742"/>
              </a:spcAft>
              <a:buNone/>
            </a:pPr>
            <a:r>
              <a:rPr lang="pt-BR" sz="3600" b="0" i="0" dirty="0" err="1">
                <a:solidFill>
                  <a:srgbClr val="FDFFFF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AirBnb</a:t>
            </a:r>
            <a:r>
              <a:rPr lang="pt-BR" sz="3600" b="0" i="0" dirty="0">
                <a:solidFill>
                  <a:srgbClr val="FDFFFF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: características do imóvel e valor da diária</a:t>
            </a:r>
            <a:endParaRPr lang="pt-BR" sz="4000" b="0" i="0" dirty="0">
              <a:solidFill>
                <a:srgbClr val="FDFFFF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2F74DF0-E0F3-11A4-707C-2913C8F577E6}"/>
              </a:ext>
            </a:extLst>
          </p:cNvPr>
          <p:cNvCxnSpPr>
            <a:cxnSpLocks/>
          </p:cNvCxnSpPr>
          <p:nvPr/>
        </p:nvCxnSpPr>
        <p:spPr>
          <a:xfrm>
            <a:off x="4660241" y="4183216"/>
            <a:ext cx="2871517" cy="0"/>
          </a:xfrm>
          <a:prstGeom prst="line">
            <a:avLst/>
          </a:prstGeom>
          <a:ln>
            <a:solidFill>
              <a:srgbClr val="FF5A5F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AFDC32-1765-AF2F-1397-E38C5BBCD01D}"/>
              </a:ext>
            </a:extLst>
          </p:cNvPr>
          <p:cNvSpPr txBox="1"/>
          <p:nvPr/>
        </p:nvSpPr>
        <p:spPr>
          <a:xfrm>
            <a:off x="597718" y="5167501"/>
            <a:ext cx="2309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solidFill>
                  <a:srgbClr val="FDFFFF"/>
                </a:solidFill>
              </a:rPr>
              <a:t>Projeto 1 </a:t>
            </a:r>
            <a:r>
              <a:rPr lang="pt-BR" sz="1600">
                <a:solidFill>
                  <a:srgbClr val="FDFFFF"/>
                </a:solidFill>
              </a:rPr>
              <a:t>– Ciclo Básico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40B584-B5BC-CBD3-B1EA-9FE0F53CCD9B}"/>
              </a:ext>
            </a:extLst>
          </p:cNvPr>
          <p:cNvSpPr txBox="1"/>
          <p:nvPr/>
        </p:nvSpPr>
        <p:spPr>
          <a:xfrm>
            <a:off x="597718" y="5591305"/>
            <a:ext cx="3002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FDFFFF"/>
                </a:solidFill>
              </a:rPr>
              <a:t>Integrantes:</a:t>
            </a:r>
          </a:p>
          <a:p>
            <a:r>
              <a:rPr lang="pt-BR" sz="1600">
                <a:solidFill>
                  <a:srgbClr val="FDFFFF"/>
                </a:solidFill>
              </a:rPr>
              <a:t>Anna Albuquerque</a:t>
            </a:r>
          </a:p>
          <a:p>
            <a:r>
              <a:rPr lang="pt-BR" sz="1600">
                <a:solidFill>
                  <a:srgbClr val="FDFFFF"/>
                </a:solidFill>
              </a:rPr>
              <a:t>Mateus Cortez Camacho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107635A-2E8E-9379-5CFD-1F1099D4B9E0}"/>
              </a:ext>
            </a:extLst>
          </p:cNvPr>
          <p:cNvCxnSpPr>
            <a:cxnSpLocks/>
          </p:cNvCxnSpPr>
          <p:nvPr/>
        </p:nvCxnSpPr>
        <p:spPr>
          <a:xfrm flipV="1">
            <a:off x="436880" y="5285978"/>
            <a:ext cx="0" cy="1003062"/>
          </a:xfrm>
          <a:prstGeom prst="line">
            <a:avLst/>
          </a:prstGeom>
          <a:ln>
            <a:solidFill>
              <a:srgbClr val="FF5A5F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755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1F6F5-7B81-80AE-75B6-6F064894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F9E2-A080-807E-E774-FFB029F9D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Sumário</a:t>
            </a:r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203B10F-CC93-A844-6793-D22FAED6D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7860" y="2620378"/>
            <a:ext cx="5796280" cy="2296160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Contexto (lincando com as perguntas)</a:t>
            </a:r>
          </a:p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Tema</a:t>
            </a:r>
          </a:p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Banco de Dados</a:t>
            </a:r>
          </a:p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Visão Geral</a:t>
            </a:r>
          </a:p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Visão Específica</a:t>
            </a:r>
          </a:p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Resultados</a:t>
            </a:r>
          </a:p>
          <a:p>
            <a:pPr marL="0" indent="0" algn="ctr">
              <a:buNone/>
            </a:pP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B424067-6B12-A90E-73D6-2A288B7D3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7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FFD742-B501-AB20-5F87-6E87ECE5A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21"/>
            <a:ext cx="694436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O </a:t>
            </a:r>
            <a:r>
              <a:rPr lang="pt-B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Airbnb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é uma plataforma digital que conecta pessoas que alugam imóveis ou quartos (anfitriões) a viajantes que buscam hospedagem de curta duração.</a:t>
            </a:r>
          </a:p>
          <a:p>
            <a:pPr marL="0" indent="0">
              <a:buNone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indent="0">
              <a:buNone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Ele surgiu em 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São Francisco, na Califórnia (Estados Unidos)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. A ideia nasceu em 2007 no apartamento de dois dos fundadores, Brian </a:t>
            </a:r>
            <a:r>
              <a:rPr lang="pt-B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Chesky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e Joe </a:t>
            </a:r>
            <a:r>
              <a:rPr lang="pt-B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Gebbia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, que decidiram alugar colchões infláveis na sala de estar para ajudar a pagar o aluguel. </a:t>
            </a:r>
          </a:p>
          <a:p>
            <a:pPr marL="0" indent="0">
              <a:buNone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Atualmente, o </a:t>
            </a:r>
            <a:r>
              <a:rPr lang="pt-B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Airbnb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está presente em mais de 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220 países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e mais de 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9 milhões de anúncios ativos.</a:t>
            </a:r>
            <a:endParaRPr lang="pt-B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9088B29-159A-C886-A14F-EABD0AD0B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1" t="-434" r="19530" b="434"/>
          <a:stretch>
            <a:fillRect/>
          </a:stretch>
        </p:blipFill>
        <p:spPr>
          <a:xfrm>
            <a:off x="8237898" y="1892300"/>
            <a:ext cx="3115902" cy="30734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EB18C86-B331-11D6-8DF3-A987B056EE6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63907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Contexto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3C5B61D-C958-78FC-E3A9-432544912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3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F9A3-B3EC-184F-F63D-A7BE7A746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952F2-F06A-CAEE-2529-66182E04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Tema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AB4AC02-E8FE-006E-3D1B-4CA94C49D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B927266-6BF5-14F5-E002-FD4DAABA27DB}"/>
              </a:ext>
            </a:extLst>
          </p:cNvPr>
          <p:cNvSpPr txBox="1"/>
          <p:nvPr/>
        </p:nvSpPr>
        <p:spPr>
          <a:xfrm>
            <a:off x="838200" y="2281572"/>
            <a:ext cx="88450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u="none" strike="noStrike" baseline="0" dirty="0">
                <a:latin typeface="SFRM1095"/>
              </a:rPr>
              <a:t>Quais características da acomodação (tipo de quarto, número de banheiros ou</a:t>
            </a:r>
          </a:p>
          <a:p>
            <a:pPr algn="l"/>
            <a:r>
              <a:rPr lang="pt-BR" sz="2000" b="0" i="0" u="none" strike="noStrike" baseline="0" dirty="0">
                <a:latin typeface="SFRM1095"/>
              </a:rPr>
              <a:t>camas) têm maior impacto no valor da diária?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517229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845C6-44EA-67F7-8108-CCC1BC041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0E368-4FAA-87D4-5B9E-9EF3FE24E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Banco de Dados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660C564-51E2-73E0-D675-DB1C36DF0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4" name="Imagem 3" descr="Kaggle - Wikipedia">
            <a:extLst>
              <a:ext uri="{FF2B5EF4-FFF2-40B4-BE49-F238E27FC236}">
                <a16:creationId xmlns:a16="http://schemas.microsoft.com/office/drawing/2014/main" id="{080E0366-1183-D8EE-0128-47A490632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762" y="2110886"/>
            <a:ext cx="6848475" cy="26479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15686F-7ED7-B685-D78F-9062A22F64E2}"/>
              </a:ext>
            </a:extLst>
          </p:cNvPr>
          <p:cNvSpPr txBox="1"/>
          <p:nvPr/>
        </p:nvSpPr>
        <p:spPr>
          <a:xfrm>
            <a:off x="-2209800" y="4165101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About</a:t>
            </a:r>
            <a:r>
              <a:rPr lang="pt-BR" dirty="0"/>
              <a:t> </a:t>
            </a:r>
            <a:r>
              <a:rPr lang="pt-BR" dirty="0" err="1"/>
              <a:t>Dataset</a:t>
            </a:r>
            <a:endParaRPr lang="pt-BR" dirty="0"/>
          </a:p>
          <a:p>
            <a:r>
              <a:rPr lang="pt-BR" dirty="0"/>
              <a:t>Overview</a:t>
            </a:r>
          </a:p>
          <a:p>
            <a:endParaRPr lang="pt-BR" dirty="0"/>
          </a:p>
          <a:p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provides</a:t>
            </a:r>
            <a:r>
              <a:rPr lang="pt-BR" dirty="0"/>
              <a:t> </a:t>
            </a:r>
            <a:r>
              <a:rPr lang="pt-BR" dirty="0" err="1"/>
              <a:t>detailed</a:t>
            </a:r>
            <a:r>
              <a:rPr lang="pt-BR" dirty="0"/>
              <a:t> </a:t>
            </a:r>
            <a:r>
              <a:rPr lang="pt-BR" dirty="0" err="1"/>
              <a:t>information</a:t>
            </a:r>
            <a:r>
              <a:rPr lang="pt-BR" dirty="0"/>
              <a:t> </a:t>
            </a:r>
            <a:r>
              <a:rPr lang="pt-BR" dirty="0" err="1"/>
              <a:t>about</a:t>
            </a:r>
            <a:r>
              <a:rPr lang="pt-BR" dirty="0"/>
              <a:t> </a:t>
            </a:r>
            <a:r>
              <a:rPr lang="pt-BR" dirty="0" err="1"/>
              <a:t>various</a:t>
            </a:r>
            <a:r>
              <a:rPr lang="pt-BR" dirty="0"/>
              <a:t> </a:t>
            </a:r>
            <a:r>
              <a:rPr lang="pt-BR" dirty="0" err="1"/>
              <a:t>Airbnb</a:t>
            </a:r>
            <a:r>
              <a:rPr lang="pt-BR" dirty="0"/>
              <a:t> </a:t>
            </a:r>
            <a:r>
              <a:rPr lang="pt-BR" dirty="0" err="1"/>
              <a:t>listings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different</a:t>
            </a:r>
            <a:r>
              <a:rPr lang="pt-BR" dirty="0"/>
              <a:t> </a:t>
            </a:r>
            <a:r>
              <a:rPr lang="pt-BR" dirty="0" err="1"/>
              <a:t>regions</a:t>
            </a:r>
            <a:r>
              <a:rPr lang="pt-BR" dirty="0"/>
              <a:t>. It includes </a:t>
            </a:r>
            <a:r>
              <a:rPr lang="pt-BR" dirty="0" err="1"/>
              <a:t>essential</a:t>
            </a:r>
            <a:r>
              <a:rPr lang="pt-BR" dirty="0"/>
              <a:t> features </a:t>
            </a:r>
            <a:r>
              <a:rPr lang="pt-BR" dirty="0" err="1"/>
              <a:t>such</a:t>
            </a:r>
            <a:r>
              <a:rPr lang="pt-BR" dirty="0"/>
              <a:t> as </a:t>
            </a:r>
            <a:r>
              <a:rPr lang="pt-BR" dirty="0" err="1"/>
              <a:t>property</a:t>
            </a:r>
            <a:r>
              <a:rPr lang="pt-BR" dirty="0"/>
              <a:t> </a:t>
            </a:r>
            <a:r>
              <a:rPr lang="pt-BR" dirty="0" err="1"/>
              <a:t>details</a:t>
            </a:r>
            <a:r>
              <a:rPr lang="pt-BR" dirty="0"/>
              <a:t>, host </a:t>
            </a:r>
            <a:r>
              <a:rPr lang="pt-BR" dirty="0" err="1"/>
              <a:t>information</a:t>
            </a:r>
            <a:r>
              <a:rPr lang="pt-BR" dirty="0"/>
              <a:t>, </a:t>
            </a:r>
            <a:r>
              <a:rPr lang="pt-BR" dirty="0" err="1"/>
              <a:t>location</a:t>
            </a:r>
            <a:r>
              <a:rPr lang="pt-BR" dirty="0"/>
              <a:t>, </a:t>
            </a:r>
            <a:r>
              <a:rPr lang="pt-BR" dirty="0" err="1"/>
              <a:t>pricing</a:t>
            </a:r>
            <a:r>
              <a:rPr lang="pt-BR" dirty="0"/>
              <a:t>, </a:t>
            </a:r>
            <a:r>
              <a:rPr lang="pt-BR" dirty="0" err="1"/>
              <a:t>amenities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guest</a:t>
            </a:r>
            <a:r>
              <a:rPr lang="pt-BR" dirty="0"/>
              <a:t> reviews.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utilized</a:t>
            </a:r>
            <a:r>
              <a:rPr lang="pt-BR" dirty="0"/>
              <a:t> for a </a:t>
            </a:r>
            <a:r>
              <a:rPr lang="pt-BR" dirty="0" err="1"/>
              <a:t>variety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data </a:t>
            </a:r>
            <a:r>
              <a:rPr lang="pt-BR" dirty="0" err="1"/>
              <a:t>analysis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machine learning </a:t>
            </a:r>
            <a:r>
              <a:rPr lang="pt-BR" dirty="0" err="1"/>
              <a:t>tasks</a:t>
            </a:r>
            <a:r>
              <a:rPr lang="pt-BR" dirty="0"/>
              <a:t>, </a:t>
            </a:r>
            <a:r>
              <a:rPr lang="pt-BR" dirty="0" err="1"/>
              <a:t>including</a:t>
            </a:r>
            <a:r>
              <a:rPr lang="pt-BR" dirty="0"/>
              <a:t> </a:t>
            </a:r>
            <a:r>
              <a:rPr lang="pt-BR" dirty="0" err="1"/>
              <a:t>price</a:t>
            </a:r>
            <a:r>
              <a:rPr lang="pt-BR" dirty="0"/>
              <a:t> </a:t>
            </a:r>
            <a:r>
              <a:rPr lang="pt-BR" dirty="0" err="1"/>
              <a:t>prediction</a:t>
            </a:r>
            <a:r>
              <a:rPr lang="pt-BR" dirty="0"/>
              <a:t>, </a:t>
            </a:r>
            <a:r>
              <a:rPr lang="pt-BR" dirty="0" err="1"/>
              <a:t>sentiment</a:t>
            </a:r>
            <a:r>
              <a:rPr lang="pt-BR" dirty="0"/>
              <a:t> </a:t>
            </a:r>
            <a:r>
              <a:rPr lang="pt-BR" dirty="0" err="1"/>
              <a:t>analysis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geographic</a:t>
            </a:r>
            <a:r>
              <a:rPr lang="pt-BR" dirty="0"/>
              <a:t> trends in short-</a:t>
            </a:r>
            <a:r>
              <a:rPr lang="pt-BR" dirty="0" err="1"/>
              <a:t>term</a:t>
            </a:r>
            <a:r>
              <a:rPr lang="pt-BR" dirty="0"/>
              <a:t> </a:t>
            </a:r>
            <a:r>
              <a:rPr lang="pt-BR" dirty="0" err="1"/>
              <a:t>rentals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Contents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4FB5B42-8820-32A3-CCD4-2FE7680876CC}"/>
              </a:ext>
            </a:extLst>
          </p:cNvPr>
          <p:cNvSpPr txBox="1"/>
          <p:nvPr/>
        </p:nvSpPr>
        <p:spPr>
          <a:xfrm>
            <a:off x="5903667" y="4899900"/>
            <a:ext cx="1100100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### Variáveis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**id**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Unique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identifier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for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each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*Identificação*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name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Name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Airbnb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**rating**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Average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rating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Contínua*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**reviews**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reviews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received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host_name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Name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host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host_id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Unique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identifier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for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host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*Identificação*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address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Location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city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region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, country)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**features**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Summary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features (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guests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bedrooms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beds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bathrooms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)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amenities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amenities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provided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price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Price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per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night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local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currency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**country**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Country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where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is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located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bathrooms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bathrooms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beds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beds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guests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guests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can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accommodate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toiles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toilets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bedrooms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bedrooms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studios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studio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units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(0 = "Não", 1 = "Sim")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 Binária*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checkin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Check-in time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**checkout**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Check-out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time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060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1B64-64A2-4700-5640-255FD910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14C74-9843-8663-D593-C4A8765F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Geral – INR -&gt; USD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7EC79CF-AEEA-5A7D-7F54-1F3D212B1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E2E038F-D855-6FCA-DFAE-94F8CCE31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70" y="647700"/>
            <a:ext cx="9372600" cy="55626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841D919-5D88-76E7-0073-7EAF8A967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535" y="1905000"/>
            <a:ext cx="4114800" cy="30480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7E8F5DA3-6160-623D-BC00-8441759895B7}"/>
              </a:ext>
            </a:extLst>
          </p:cNvPr>
          <p:cNvSpPr txBox="1"/>
          <p:nvPr/>
        </p:nvSpPr>
        <p:spPr>
          <a:xfrm>
            <a:off x="2623254" y="5127585"/>
            <a:ext cx="3472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Conversão de </a:t>
            </a:r>
            <a:r>
              <a:rPr lang="pt-BR" dirty="0" err="1"/>
              <a:t>price</a:t>
            </a:r>
            <a:r>
              <a:rPr lang="pt-BR" dirty="0"/>
              <a:t> para </a:t>
            </a:r>
            <a:r>
              <a:rPr lang="pt-BR" dirty="0" err="1"/>
              <a:t>ln</a:t>
            </a:r>
            <a:r>
              <a:rPr lang="pt-BR" dirty="0"/>
              <a:t>(</a:t>
            </a:r>
            <a:r>
              <a:rPr lang="pt-BR" dirty="0" err="1"/>
              <a:t>price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3484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FD861-A970-A483-4521-A5976AB2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7CE24-7064-BAFF-56BD-B3B940F0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Geral - Continentes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B5DCB0F-7DB4-363B-59F7-2F1BBE3D8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53CF084-859C-383E-BF8F-1E5DBCB38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0" y="1949907"/>
            <a:ext cx="9372600" cy="55626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22D0D45-FB4E-C2E4-CD28-A97037333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76600" y="5290038"/>
            <a:ext cx="9372600" cy="55626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4038FD7B-CB1F-841A-C857-3EB30E931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06559" y="2602230"/>
            <a:ext cx="7178040" cy="226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08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584A-F566-64BA-3857-EC09592F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4EF00-FF72-A27C-F028-07117EC7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Específica – Quantitativas Relevantes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72697F0-76F2-E987-C080-76BFD4AF4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CC48C20-3323-9031-C1B3-092440BEE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67754" y="1565156"/>
            <a:ext cx="12192000" cy="372768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61296C7-EB2D-C179-04C9-0F9A5CDD5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820" y="2552700"/>
            <a:ext cx="4404360" cy="17526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C7FDB52-923E-4896-F403-F3416805C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246" y="4575806"/>
            <a:ext cx="440436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1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14CEE-421B-8058-355D-FABF8494F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AC802-16B5-E3EE-856F-F0C2D98D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Específica – Quantitativas P/ Continente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3645F1D-A568-FAAC-2595-115040AC0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989592E-9B45-8358-B740-253EBD52B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483" y="2436363"/>
            <a:ext cx="9645805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51897EC-6AA8-0EB4-58C7-1A10A55F9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1581" y="1450197"/>
            <a:ext cx="9645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58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78E22-DAF7-5832-C136-6D3C38F0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5E45C-0FA8-18FC-B9BE-43189E917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Específica – Dispersão das Quantitativas</a:t>
            </a:r>
            <a:endParaRPr lang="pt-BR" sz="32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CA6C2B-7C49-C4E4-21BB-1F401624A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1920ADB-60E8-FE6A-FCD0-503A6E6A2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759" y="1996422"/>
            <a:ext cx="6350219" cy="486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32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B11B-E155-E979-14A2-E3574777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35471-41F7-EF24-C8A0-7DC17D7E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Específica – </a:t>
            </a:r>
            <a:r>
              <a:rPr lang="pt-BR" sz="24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Studios</a:t>
            </a:r>
            <a:endParaRPr lang="pt-BR" sz="32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6E09FA-3A24-D613-0AC4-FB3685B83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B4E5F78-B579-39C1-F996-170FFBBC2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1123950"/>
            <a:ext cx="6515100" cy="46101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C4EC67E-0ECD-0342-FA5B-024E28C10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552700"/>
            <a:ext cx="2895600" cy="17526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C596F3E-BCE4-9867-F2BF-D71E3F729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124" y="4520121"/>
            <a:ext cx="2895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82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EED7-E3BB-D0B3-E510-E51DB7A4E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54627-3EBE-F210-2174-C79AB414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Resultados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976FE05-9F0A-F7A3-5B3A-6C3728080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1B9B30D-73B6-C340-C899-A5C8B953B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9877" y="1353669"/>
            <a:ext cx="4951667" cy="415066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7D65F56-EE78-180B-1AA5-78D14C2BA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41" y="1882775"/>
            <a:ext cx="783907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26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8C33-D9E6-28CA-E197-5F9E63B92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6E3CD-F816-46D4-A234-7B088936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Resultados - Conclusão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9B03CAE-4DE0-4889-691F-579C22D6C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C1F3BD3-8434-E3F4-8A44-C58654923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98" y="1718306"/>
            <a:ext cx="74676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421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6AD34-81EE-7211-D0AD-F25F6F3A2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1CB7C-12B7-662E-E6FB-BD2B6383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281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Obrigado!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A0CB1A-BDED-7104-86C4-30779E286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514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Microsoft Office PowerPoint</Application>
  <PresentationFormat>Widescreen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Segoe UI</vt:lpstr>
      <vt:lpstr>Segoe UI Black</vt:lpstr>
      <vt:lpstr>SFRM1095</vt:lpstr>
      <vt:lpstr>Tema do Office</vt:lpstr>
      <vt:lpstr>Apresentação do PowerPoint</vt:lpstr>
      <vt:lpstr>Sumário</vt:lpstr>
      <vt:lpstr>Apresentação do PowerPoint</vt:lpstr>
      <vt:lpstr>Tema</vt:lpstr>
      <vt:lpstr>Banco de Dados</vt:lpstr>
      <vt:lpstr>Visão Geral – INR -&gt; USD</vt:lpstr>
      <vt:lpstr>Visão Geral - Continentes</vt:lpstr>
      <vt:lpstr>Visão Específica – Quantitativas Relevantes</vt:lpstr>
      <vt:lpstr>Visão Específica – Quantitativas P/ Continente</vt:lpstr>
      <vt:lpstr>Visão Específica – Dispersão das Quantitativas</vt:lpstr>
      <vt:lpstr>Visão Específica – Studios</vt:lpstr>
      <vt:lpstr>Resultados</vt:lpstr>
      <vt:lpstr>Resultados - Conclusão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Luiza Braga de Albuquerque</dc:creator>
  <cp:lastModifiedBy>Mateus Cortez Camacho</cp:lastModifiedBy>
  <cp:revision>1</cp:revision>
  <dcterms:created xsi:type="dcterms:W3CDTF">2026-09-15T18:50:15Z</dcterms:created>
  <dcterms:modified xsi:type="dcterms:W3CDTF">2026-09-16T20:38:28Z</dcterms:modified>
</cp:coreProperties>
</file>